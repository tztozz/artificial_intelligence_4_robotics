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6" r:id="rId5"/>
    <p:sldId id="274" r:id="rId6"/>
    <p:sldId id="270" r:id="rId7"/>
    <p:sldId id="262" r:id="rId8"/>
    <p:sldId id="264" r:id="rId9"/>
    <p:sldId id="257" r:id="rId10"/>
    <p:sldId id="261" r:id="rId11"/>
    <p:sldId id="258" r:id="rId12"/>
    <p:sldId id="260" r:id="rId13"/>
    <p:sldId id="259" r:id="rId14"/>
    <p:sldId id="265" r:id="rId15"/>
    <p:sldId id="266" r:id="rId16"/>
    <p:sldId id="268" r:id="rId17"/>
    <p:sldId id="269" r:id="rId18"/>
    <p:sldId id="267" r:id="rId19"/>
    <p:sldId id="271" r:id="rId20"/>
    <p:sldId id="272" r:id="rId21"/>
    <p:sldId id="273" r:id="rId2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29F662-B804-4525-8F7B-676EF60D0CF5}" v="258" dt="2026-07-21T16:44:12.0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42" autoAdjust="0"/>
    <p:restoredTop sz="78132" autoAdjust="0"/>
  </p:normalViewPr>
  <p:slideViewPr>
    <p:cSldViewPr snapToGrid="0">
      <p:cViewPr varScale="1">
        <p:scale>
          <a:sx n="108" d="100"/>
          <a:sy n="108" d="100"/>
        </p:scale>
        <p:origin x="1219"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14EACD-378E-4AF1-AFC0-6BB85A2C9EB4}" type="datetimeFigureOut">
              <a:rPr lang="en-GB" smtClean="0"/>
              <a:t>21/07/2026</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5B8CD8-B354-4CE8-AE73-38469A038755}" type="slidenum">
              <a:rPr lang="en-GB" smtClean="0"/>
              <a:t>‹N›</a:t>
            </a:fld>
            <a:endParaRPr lang="en-GB"/>
          </a:p>
        </p:txBody>
      </p:sp>
    </p:spTree>
    <p:extLst>
      <p:ext uri="{BB962C8B-B14F-4D97-AF65-F5344CB8AC3E}">
        <p14:creationId xmlns:p14="http://schemas.microsoft.com/office/powerpoint/2010/main" val="4029643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noProof="0" dirty="0"/>
              <a:t>- Concept of multiple possible failure but only one confirmed fault </a:t>
            </a:r>
          </a:p>
        </p:txBody>
      </p:sp>
      <p:sp>
        <p:nvSpPr>
          <p:cNvPr id="4" name="Segnaposto numero diapositiva 3"/>
          <p:cNvSpPr>
            <a:spLocks noGrp="1"/>
          </p:cNvSpPr>
          <p:nvPr>
            <p:ph type="sldNum" sz="quarter" idx="5"/>
          </p:nvPr>
        </p:nvSpPr>
        <p:spPr/>
        <p:txBody>
          <a:bodyPr/>
          <a:lstStyle/>
          <a:p>
            <a:fld id="{9A5B8CD8-B354-4CE8-AE73-38469A038755}" type="slidenum">
              <a:rPr lang="en-GB" smtClean="0"/>
              <a:t>3</a:t>
            </a:fld>
            <a:endParaRPr lang="en-GB"/>
          </a:p>
        </p:txBody>
      </p:sp>
    </p:spTree>
    <p:extLst>
      <p:ext uri="{BB962C8B-B14F-4D97-AF65-F5344CB8AC3E}">
        <p14:creationId xmlns:p14="http://schemas.microsoft.com/office/powerpoint/2010/main" val="2371044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 Say </a:t>
            </a:r>
            <a:r>
              <a:rPr lang="it-IT" dirty="0" err="1"/>
              <a:t>that</a:t>
            </a:r>
            <a:r>
              <a:rPr lang="it-IT" dirty="0"/>
              <a:t> a short time </a:t>
            </a:r>
            <a:r>
              <a:rPr lang="it-IT" dirty="0" err="1"/>
              <a:t>assumption</a:t>
            </a:r>
            <a:r>
              <a:rPr lang="it-IT" dirty="0"/>
              <a:t> </a:t>
            </a:r>
            <a:r>
              <a:rPr lang="it-IT" dirty="0" err="1"/>
              <a:t>is</a:t>
            </a:r>
            <a:r>
              <a:rPr lang="it-IT" dirty="0"/>
              <a:t> </a:t>
            </a:r>
            <a:r>
              <a:rPr lang="it-IT" dirty="0" err="1"/>
              <a:t>done</a:t>
            </a:r>
            <a:r>
              <a:rPr lang="it-IT" dirty="0"/>
              <a:t> (No drift)</a:t>
            </a:r>
            <a:endParaRPr lang="en-GB" dirty="0"/>
          </a:p>
        </p:txBody>
      </p:sp>
      <p:sp>
        <p:nvSpPr>
          <p:cNvPr id="4" name="Segnaposto numero diapositiva 3"/>
          <p:cNvSpPr>
            <a:spLocks noGrp="1"/>
          </p:cNvSpPr>
          <p:nvPr>
            <p:ph type="sldNum" sz="quarter" idx="5"/>
          </p:nvPr>
        </p:nvSpPr>
        <p:spPr/>
        <p:txBody>
          <a:bodyPr/>
          <a:lstStyle/>
          <a:p>
            <a:fld id="{9A5B8CD8-B354-4CE8-AE73-38469A038755}" type="slidenum">
              <a:rPr lang="en-GB" smtClean="0"/>
              <a:t>7</a:t>
            </a:fld>
            <a:endParaRPr lang="en-GB"/>
          </a:p>
        </p:txBody>
      </p:sp>
    </p:spTree>
    <p:extLst>
      <p:ext uri="{BB962C8B-B14F-4D97-AF65-F5344CB8AC3E}">
        <p14:creationId xmlns:p14="http://schemas.microsoft.com/office/powerpoint/2010/main" val="920505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indent="0">
              <a:buFontTx/>
              <a:buNone/>
            </a:pPr>
            <a:r>
              <a:rPr lang="it-IT" dirty="0"/>
              <a:t>- Tell </a:t>
            </a:r>
            <a:r>
              <a:rPr lang="it-IT" dirty="0" err="1"/>
              <a:t>about</a:t>
            </a:r>
            <a:r>
              <a:rPr lang="it-IT" dirty="0"/>
              <a:t> the </a:t>
            </a:r>
            <a:r>
              <a:rPr lang="it-IT" dirty="0" err="1"/>
              <a:t>Warehouse</a:t>
            </a:r>
            <a:r>
              <a:rPr lang="it-IT" dirty="0"/>
              <a:t> </a:t>
            </a:r>
            <a:r>
              <a:rPr lang="it-IT" dirty="0" err="1"/>
              <a:t>that</a:t>
            </a:r>
            <a:r>
              <a:rPr lang="it-IT" dirty="0"/>
              <a:t> </a:t>
            </a:r>
            <a:r>
              <a:rPr lang="it-IT" dirty="0" err="1"/>
              <a:t>contains</a:t>
            </a:r>
            <a:r>
              <a:rPr lang="it-IT" dirty="0"/>
              <a:t> </a:t>
            </a:r>
            <a:r>
              <a:rPr lang="it-IT" dirty="0" err="1"/>
              <a:t>spare</a:t>
            </a:r>
            <a:r>
              <a:rPr lang="it-IT" dirty="0"/>
              <a:t> </a:t>
            </a:r>
            <a:r>
              <a:rPr lang="it-IT" dirty="0" err="1"/>
              <a:t>sensor</a:t>
            </a:r>
            <a:endParaRPr lang="it-IT" dirty="0"/>
          </a:p>
          <a:p>
            <a:pPr marL="0" indent="0">
              <a:buFontTx/>
              <a:buNone/>
            </a:pPr>
            <a:r>
              <a:rPr lang="it-IT" dirty="0"/>
              <a:t>- The robot </a:t>
            </a:r>
            <a:r>
              <a:rPr lang="it-IT" dirty="0" err="1"/>
              <a:t>has</a:t>
            </a:r>
            <a:r>
              <a:rPr lang="it-IT" dirty="0"/>
              <a:t> a toolbox with an </a:t>
            </a:r>
            <a:r>
              <a:rPr lang="it-IT" dirty="0" err="1"/>
              <a:t>adjustable</a:t>
            </a:r>
            <a:r>
              <a:rPr lang="it-IT" dirty="0"/>
              <a:t> </a:t>
            </a:r>
            <a:r>
              <a:rPr lang="it-IT" dirty="0" err="1"/>
              <a:t>wrench</a:t>
            </a:r>
            <a:r>
              <a:rPr lang="it-IT" dirty="0"/>
              <a:t> inside</a:t>
            </a:r>
            <a:endParaRPr lang="en-GB" dirty="0"/>
          </a:p>
        </p:txBody>
      </p:sp>
      <p:sp>
        <p:nvSpPr>
          <p:cNvPr id="4" name="Segnaposto numero diapositiva 3"/>
          <p:cNvSpPr>
            <a:spLocks noGrp="1"/>
          </p:cNvSpPr>
          <p:nvPr>
            <p:ph type="sldNum" sz="quarter" idx="5"/>
          </p:nvPr>
        </p:nvSpPr>
        <p:spPr/>
        <p:txBody>
          <a:bodyPr/>
          <a:lstStyle/>
          <a:p>
            <a:fld id="{9A5B8CD8-B354-4CE8-AE73-38469A038755}" type="slidenum">
              <a:rPr lang="en-GB" smtClean="0"/>
              <a:t>8</a:t>
            </a:fld>
            <a:endParaRPr lang="en-GB"/>
          </a:p>
        </p:txBody>
      </p:sp>
    </p:spTree>
    <p:extLst>
      <p:ext uri="{BB962C8B-B14F-4D97-AF65-F5344CB8AC3E}">
        <p14:creationId xmlns:p14="http://schemas.microsoft.com/office/powerpoint/2010/main" val="3340984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 </a:t>
            </a:r>
            <a:r>
              <a:rPr lang="it-IT" dirty="0" err="1"/>
              <a:t>Now</a:t>
            </a:r>
            <a:r>
              <a:rPr lang="it-IT" dirty="0"/>
              <a:t> </a:t>
            </a:r>
            <a:r>
              <a:rPr lang="it-IT" dirty="0" err="1"/>
              <a:t>scission</a:t>
            </a:r>
            <a:r>
              <a:rPr lang="it-IT" dirty="0"/>
              <a:t> </a:t>
            </a:r>
            <a:r>
              <a:rPr lang="it-IT" dirty="0" err="1"/>
              <a:t>between</a:t>
            </a:r>
            <a:r>
              <a:rPr lang="it-IT" dirty="0"/>
              <a:t> </a:t>
            </a:r>
            <a:r>
              <a:rPr lang="it-IT" dirty="0" err="1"/>
              <a:t>what</a:t>
            </a:r>
            <a:r>
              <a:rPr lang="it-IT" dirty="0"/>
              <a:t> the robot can </a:t>
            </a:r>
            <a:r>
              <a:rPr lang="it-IT" dirty="0" err="1"/>
              <a:t>see</a:t>
            </a:r>
            <a:r>
              <a:rPr lang="it-IT" dirty="0"/>
              <a:t> and </a:t>
            </a:r>
            <a:r>
              <a:rPr lang="it-IT" dirty="0" err="1"/>
              <a:t>logic</a:t>
            </a:r>
            <a:r>
              <a:rPr lang="it-IT" dirty="0"/>
              <a:t> </a:t>
            </a:r>
            <a:r>
              <a:rPr lang="it-IT" dirty="0" err="1"/>
              <a:t>that</a:t>
            </a:r>
            <a:r>
              <a:rPr lang="it-IT" dirty="0"/>
              <a:t> model the </a:t>
            </a:r>
            <a:r>
              <a:rPr lang="it-IT" dirty="0" err="1"/>
              <a:t>physical</a:t>
            </a:r>
            <a:r>
              <a:rPr lang="it-IT" dirty="0"/>
              <a:t> world</a:t>
            </a:r>
          </a:p>
          <a:p>
            <a:r>
              <a:rPr lang="it-IT" dirty="0"/>
              <a:t>- I can use </a:t>
            </a:r>
            <a:r>
              <a:rPr lang="it-IT" dirty="0" err="1"/>
              <a:t>confirm_fault</a:t>
            </a:r>
            <a:r>
              <a:rPr lang="it-IT" dirty="0"/>
              <a:t> and </a:t>
            </a:r>
            <a:r>
              <a:rPr lang="it-IT" dirty="0" err="1"/>
              <a:t>rule_out_fault</a:t>
            </a:r>
            <a:r>
              <a:rPr lang="it-IT" dirty="0"/>
              <a:t> </a:t>
            </a:r>
            <a:r>
              <a:rPr lang="it-IT" dirty="0" err="1"/>
              <a:t>even</a:t>
            </a:r>
            <a:r>
              <a:rPr lang="it-IT" dirty="0"/>
              <a:t> with panel </a:t>
            </a:r>
            <a:r>
              <a:rPr lang="it-IT" dirty="0" err="1"/>
              <a:t>because</a:t>
            </a:r>
            <a:r>
              <a:rPr lang="it-IT" dirty="0"/>
              <a:t> </a:t>
            </a:r>
            <a:r>
              <a:rPr lang="it-IT" dirty="0" err="1"/>
              <a:t>is</a:t>
            </a:r>
            <a:r>
              <a:rPr lang="it-IT" dirty="0"/>
              <a:t> modular</a:t>
            </a:r>
            <a:endParaRPr lang="en-GB" dirty="0"/>
          </a:p>
        </p:txBody>
      </p:sp>
      <p:sp>
        <p:nvSpPr>
          <p:cNvPr id="4" name="Segnaposto numero diapositiva 3"/>
          <p:cNvSpPr>
            <a:spLocks noGrp="1"/>
          </p:cNvSpPr>
          <p:nvPr>
            <p:ph type="sldNum" sz="quarter" idx="5"/>
          </p:nvPr>
        </p:nvSpPr>
        <p:spPr/>
        <p:txBody>
          <a:bodyPr/>
          <a:lstStyle/>
          <a:p>
            <a:fld id="{9A5B8CD8-B354-4CE8-AE73-38469A038755}" type="slidenum">
              <a:rPr lang="en-GB" smtClean="0"/>
              <a:t>12</a:t>
            </a:fld>
            <a:endParaRPr lang="en-GB"/>
          </a:p>
        </p:txBody>
      </p:sp>
    </p:spTree>
    <p:extLst>
      <p:ext uri="{BB962C8B-B14F-4D97-AF65-F5344CB8AC3E}">
        <p14:creationId xmlns:p14="http://schemas.microsoft.com/office/powerpoint/2010/main" val="671161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 The panel 2 </a:t>
            </a:r>
            <a:r>
              <a:rPr lang="it-IT" dirty="0" err="1"/>
              <a:t>is</a:t>
            </a:r>
            <a:r>
              <a:rPr lang="it-IT" dirty="0"/>
              <a:t> </a:t>
            </a:r>
            <a:r>
              <a:rPr lang="it-IT" dirty="0" err="1"/>
              <a:t>jammed</a:t>
            </a:r>
            <a:r>
              <a:rPr lang="it-IT" dirty="0"/>
              <a:t> ma the robot </a:t>
            </a:r>
            <a:r>
              <a:rPr lang="it-IT" dirty="0" err="1"/>
              <a:t>dosen’t</a:t>
            </a:r>
            <a:r>
              <a:rPr lang="it-IT" dirty="0"/>
              <a:t> know </a:t>
            </a:r>
            <a:r>
              <a:rPr lang="it-IT" dirty="0" err="1"/>
              <a:t>until</a:t>
            </a:r>
            <a:r>
              <a:rPr lang="it-IT" dirty="0"/>
              <a:t> </a:t>
            </a:r>
            <a:r>
              <a:rPr lang="it-IT" dirty="0" err="1"/>
              <a:t>it</a:t>
            </a:r>
            <a:r>
              <a:rPr lang="it-IT" dirty="0"/>
              <a:t> </a:t>
            </a:r>
            <a:r>
              <a:rPr lang="it-IT" dirty="0" err="1"/>
              <a:t>try</a:t>
            </a:r>
            <a:r>
              <a:rPr lang="it-IT" dirty="0"/>
              <a:t> to open </a:t>
            </a:r>
            <a:r>
              <a:rPr lang="it-IT" dirty="0" err="1"/>
              <a:t>it</a:t>
            </a:r>
            <a:endParaRPr lang="en-GB" dirty="0"/>
          </a:p>
        </p:txBody>
      </p:sp>
      <p:sp>
        <p:nvSpPr>
          <p:cNvPr id="4" name="Segnaposto numero diapositiva 3"/>
          <p:cNvSpPr>
            <a:spLocks noGrp="1"/>
          </p:cNvSpPr>
          <p:nvPr>
            <p:ph type="sldNum" sz="quarter" idx="5"/>
          </p:nvPr>
        </p:nvSpPr>
        <p:spPr/>
        <p:txBody>
          <a:bodyPr/>
          <a:lstStyle/>
          <a:p>
            <a:fld id="{9A5B8CD8-B354-4CE8-AE73-38469A038755}" type="slidenum">
              <a:rPr lang="en-GB" smtClean="0"/>
              <a:t>13</a:t>
            </a:fld>
            <a:endParaRPr lang="en-GB"/>
          </a:p>
        </p:txBody>
      </p:sp>
    </p:spTree>
    <p:extLst>
      <p:ext uri="{BB962C8B-B14F-4D97-AF65-F5344CB8AC3E}">
        <p14:creationId xmlns:p14="http://schemas.microsoft.com/office/powerpoint/2010/main" val="2613756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 The robot </a:t>
            </a:r>
            <a:r>
              <a:rPr lang="it-IT" dirty="0" err="1"/>
              <a:t>realese</a:t>
            </a:r>
            <a:r>
              <a:rPr lang="it-IT" dirty="0"/>
              <a:t> </a:t>
            </a:r>
            <a:r>
              <a:rPr lang="it-IT" dirty="0" err="1"/>
              <a:t>object</a:t>
            </a:r>
            <a:r>
              <a:rPr lang="it-IT" dirty="0"/>
              <a:t> and </a:t>
            </a:r>
            <a:r>
              <a:rPr lang="it-IT" dirty="0" err="1"/>
              <a:t>ritake</a:t>
            </a:r>
            <a:r>
              <a:rPr lang="it-IT" dirty="0"/>
              <a:t> </a:t>
            </a:r>
            <a:r>
              <a:rPr lang="it-IT" dirty="0" err="1"/>
              <a:t>it</a:t>
            </a:r>
            <a:endParaRPr lang="en-GB" dirty="0"/>
          </a:p>
        </p:txBody>
      </p:sp>
      <p:sp>
        <p:nvSpPr>
          <p:cNvPr id="4" name="Segnaposto numero diapositiva 3"/>
          <p:cNvSpPr>
            <a:spLocks noGrp="1"/>
          </p:cNvSpPr>
          <p:nvPr>
            <p:ph type="sldNum" sz="quarter" idx="5"/>
          </p:nvPr>
        </p:nvSpPr>
        <p:spPr/>
        <p:txBody>
          <a:bodyPr/>
          <a:lstStyle/>
          <a:p>
            <a:fld id="{9A5B8CD8-B354-4CE8-AE73-38469A038755}" type="slidenum">
              <a:rPr lang="en-GB" smtClean="0"/>
              <a:t>14</a:t>
            </a:fld>
            <a:endParaRPr lang="en-GB"/>
          </a:p>
        </p:txBody>
      </p:sp>
    </p:spTree>
    <p:extLst>
      <p:ext uri="{BB962C8B-B14F-4D97-AF65-F5344CB8AC3E}">
        <p14:creationId xmlns:p14="http://schemas.microsoft.com/office/powerpoint/2010/main" val="2677619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5"/>
          </p:nvPr>
        </p:nvSpPr>
        <p:spPr/>
        <p:txBody>
          <a:bodyPr/>
          <a:lstStyle/>
          <a:p>
            <a:fld id="{9A5B8CD8-B354-4CE8-AE73-38469A038755}" type="slidenum">
              <a:rPr lang="en-GB" smtClean="0"/>
              <a:t>15</a:t>
            </a:fld>
            <a:endParaRPr lang="en-GB"/>
          </a:p>
        </p:txBody>
      </p:sp>
    </p:spTree>
    <p:extLst>
      <p:ext uri="{BB962C8B-B14F-4D97-AF65-F5344CB8AC3E}">
        <p14:creationId xmlns:p14="http://schemas.microsoft.com/office/powerpoint/2010/main" val="2728198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GB" sz="1200" b="0" kern="1200" dirty="0">
                <a:solidFill>
                  <a:schemeClr val="tx1"/>
                </a:solidFill>
                <a:effectLst/>
                <a:latin typeface="+mn-lt"/>
                <a:ea typeface="+mn-ea"/>
                <a:cs typeface="+mn-cs"/>
              </a:rPr>
              <a:t>| Effect on physical world | None, they only add/remove conceptual predicates | Change actual component state |</a:t>
            </a:r>
          </a:p>
          <a:p>
            <a:r>
              <a:rPr lang="en-GB" sz="1200" b="0" kern="1200" dirty="0">
                <a:solidFill>
                  <a:schemeClr val="tx1"/>
                </a:solidFill>
                <a:effectLst/>
                <a:latin typeface="+mn-lt"/>
                <a:ea typeface="+mn-ea"/>
                <a:cs typeface="+mn-cs"/>
              </a:rPr>
              <a:t>| Purpose | Reduce uncertainty / narrow hypothesis space | Move the world toward the goal |</a:t>
            </a:r>
          </a:p>
          <a:p>
            <a:r>
              <a:rPr lang="en-GB" sz="1200" b="0" kern="1200" dirty="0">
                <a:solidFill>
                  <a:schemeClr val="tx1"/>
                </a:solidFill>
                <a:effectLst/>
                <a:latin typeface="+mn-lt"/>
                <a:ea typeface="+mn-ea"/>
                <a:cs typeface="+mn-cs"/>
              </a:rPr>
              <a:t>| Preconditions | Depend on symptoms already observed, not on the true fault | Gated by `</a:t>
            </a:r>
            <a:r>
              <a:rPr lang="en-GB" sz="1200" b="0" kern="1200" dirty="0" err="1">
                <a:solidFill>
                  <a:schemeClr val="tx1"/>
                </a:solidFill>
                <a:effectLst/>
                <a:latin typeface="+mn-lt"/>
                <a:ea typeface="+mn-ea"/>
                <a:cs typeface="+mn-cs"/>
              </a:rPr>
              <a:t>confirmed_fault</a:t>
            </a:r>
            <a:r>
              <a:rPr lang="en-GB" sz="1200" b="0" kern="1200" dirty="0">
                <a:solidFill>
                  <a:schemeClr val="tx1"/>
                </a:solidFill>
                <a:effectLst/>
                <a:latin typeface="+mn-lt"/>
                <a:ea typeface="+mn-ea"/>
                <a:cs typeface="+mn-cs"/>
              </a:rPr>
              <a:t>` |</a:t>
            </a:r>
          </a:p>
          <a:p>
            <a:r>
              <a:rPr lang="en-GB" sz="1200" b="0" kern="1200" dirty="0">
                <a:solidFill>
                  <a:schemeClr val="tx1"/>
                </a:solidFill>
                <a:effectLst/>
                <a:latin typeface="+mn-lt"/>
                <a:ea typeface="+mn-ea"/>
                <a:cs typeface="+mn-cs"/>
              </a:rPr>
              <a:t>| Reversibility | Effectively monotonic — knowledge only accumulates | Physically consequential and sometimes constrained (e.g. can't `</a:t>
            </a:r>
            <a:r>
              <a:rPr lang="en-GB" sz="1200" b="0" kern="1200" dirty="0" err="1">
                <a:solidFill>
                  <a:schemeClr val="tx1"/>
                </a:solidFill>
                <a:effectLst/>
                <a:latin typeface="+mn-lt"/>
                <a:ea typeface="+mn-ea"/>
                <a:cs typeface="+mn-cs"/>
              </a:rPr>
              <a:t>open_valve</a:t>
            </a:r>
            <a:r>
              <a:rPr lang="en-GB" sz="1200" b="0" kern="1200" dirty="0">
                <a:solidFill>
                  <a:schemeClr val="tx1"/>
                </a:solidFill>
                <a:effectLst/>
                <a:latin typeface="+mn-lt"/>
                <a:ea typeface="+mn-ea"/>
                <a:cs typeface="+mn-cs"/>
              </a:rPr>
              <a:t>` if a movement-preventing fault is possible) |</a:t>
            </a:r>
          </a:p>
          <a:p>
            <a:endParaRPr lang="en-GB" dirty="0"/>
          </a:p>
        </p:txBody>
      </p:sp>
      <p:sp>
        <p:nvSpPr>
          <p:cNvPr id="4" name="Segnaposto numero diapositiva 3"/>
          <p:cNvSpPr>
            <a:spLocks noGrp="1"/>
          </p:cNvSpPr>
          <p:nvPr>
            <p:ph type="sldNum" sz="quarter" idx="5"/>
          </p:nvPr>
        </p:nvSpPr>
        <p:spPr/>
        <p:txBody>
          <a:bodyPr/>
          <a:lstStyle/>
          <a:p>
            <a:fld id="{9A5B8CD8-B354-4CE8-AE73-38469A038755}" type="slidenum">
              <a:rPr lang="en-GB" smtClean="0"/>
              <a:t>16</a:t>
            </a:fld>
            <a:endParaRPr lang="en-GB"/>
          </a:p>
        </p:txBody>
      </p:sp>
    </p:spTree>
    <p:extLst>
      <p:ext uri="{BB962C8B-B14F-4D97-AF65-F5344CB8AC3E}">
        <p14:creationId xmlns:p14="http://schemas.microsoft.com/office/powerpoint/2010/main" val="465160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C1FEDA5-F99E-5A34-4957-37571FE09719}"/>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8C913279-9FE6-41C6-644D-7E78D424BE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DE869997-D5B7-56A5-2297-AEF5EC666181}"/>
              </a:ext>
            </a:extLst>
          </p:cNvPr>
          <p:cNvSpPr>
            <a:spLocks noGrp="1"/>
          </p:cNvSpPr>
          <p:nvPr>
            <p:ph type="dt" sz="half" idx="10"/>
          </p:nvPr>
        </p:nvSpPr>
        <p:spPr/>
        <p:txBody>
          <a:bodyPr/>
          <a:lstStyle/>
          <a:p>
            <a:fld id="{596595CC-DC73-4D49-B6B7-9B67855449EE}" type="datetimeFigureOut">
              <a:rPr lang="it-IT" smtClean="0"/>
              <a:t>21/07/2026</a:t>
            </a:fld>
            <a:endParaRPr lang="it-IT" dirty="0"/>
          </a:p>
        </p:txBody>
      </p:sp>
      <p:sp>
        <p:nvSpPr>
          <p:cNvPr id="5" name="Segnaposto piè di pagina 4">
            <a:extLst>
              <a:ext uri="{FF2B5EF4-FFF2-40B4-BE49-F238E27FC236}">
                <a16:creationId xmlns:a16="http://schemas.microsoft.com/office/drawing/2014/main" id="{FF78281E-118B-7054-0E7D-3D4B57000445}"/>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5FAC8E4C-B510-4603-0301-4169C741194F}"/>
              </a:ext>
            </a:extLst>
          </p:cNvPr>
          <p:cNvSpPr>
            <a:spLocks noGrp="1"/>
          </p:cNvSpPr>
          <p:nvPr>
            <p:ph type="sldNum" sz="quarter" idx="12"/>
          </p:nvPr>
        </p:nvSpPr>
        <p:spPr/>
        <p:txBody>
          <a:bodyPr/>
          <a:lstStyle/>
          <a:p>
            <a:fld id="{01F4D96A-26D3-4AA3-A240-18169F6C5B8C}" type="slidenum">
              <a:rPr lang="it-IT" smtClean="0"/>
              <a:t>‹N›</a:t>
            </a:fld>
            <a:endParaRPr lang="it-IT" dirty="0"/>
          </a:p>
        </p:txBody>
      </p:sp>
    </p:spTree>
    <p:extLst>
      <p:ext uri="{BB962C8B-B14F-4D97-AF65-F5344CB8AC3E}">
        <p14:creationId xmlns:p14="http://schemas.microsoft.com/office/powerpoint/2010/main" val="2853486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6CBBC3-0071-00E2-2928-1B6DCDD91D70}"/>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EC6D4A5-5B55-5D6C-DCE1-5459ED134F9C}"/>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4B8044C-64C6-C44D-A18B-FADD8414BBC5}"/>
              </a:ext>
            </a:extLst>
          </p:cNvPr>
          <p:cNvSpPr>
            <a:spLocks noGrp="1"/>
          </p:cNvSpPr>
          <p:nvPr>
            <p:ph type="dt" sz="half" idx="10"/>
          </p:nvPr>
        </p:nvSpPr>
        <p:spPr/>
        <p:txBody>
          <a:bodyPr/>
          <a:lstStyle/>
          <a:p>
            <a:fld id="{596595CC-DC73-4D49-B6B7-9B67855449EE}" type="datetimeFigureOut">
              <a:rPr lang="it-IT" smtClean="0"/>
              <a:t>21/07/2026</a:t>
            </a:fld>
            <a:endParaRPr lang="it-IT" dirty="0"/>
          </a:p>
        </p:txBody>
      </p:sp>
      <p:sp>
        <p:nvSpPr>
          <p:cNvPr id="5" name="Segnaposto piè di pagina 4">
            <a:extLst>
              <a:ext uri="{FF2B5EF4-FFF2-40B4-BE49-F238E27FC236}">
                <a16:creationId xmlns:a16="http://schemas.microsoft.com/office/drawing/2014/main" id="{9C15061A-685A-0370-DA7D-DB8726A6ECDE}"/>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94AE90D0-F049-74DF-475D-3C67F6CDC8C9}"/>
              </a:ext>
            </a:extLst>
          </p:cNvPr>
          <p:cNvSpPr>
            <a:spLocks noGrp="1"/>
          </p:cNvSpPr>
          <p:nvPr>
            <p:ph type="sldNum" sz="quarter" idx="12"/>
          </p:nvPr>
        </p:nvSpPr>
        <p:spPr/>
        <p:txBody>
          <a:bodyPr/>
          <a:lstStyle/>
          <a:p>
            <a:fld id="{01F4D96A-26D3-4AA3-A240-18169F6C5B8C}" type="slidenum">
              <a:rPr lang="it-IT" smtClean="0"/>
              <a:t>‹N›</a:t>
            </a:fld>
            <a:endParaRPr lang="it-IT" dirty="0"/>
          </a:p>
        </p:txBody>
      </p:sp>
    </p:spTree>
    <p:extLst>
      <p:ext uri="{BB962C8B-B14F-4D97-AF65-F5344CB8AC3E}">
        <p14:creationId xmlns:p14="http://schemas.microsoft.com/office/powerpoint/2010/main" val="2272441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6CF87A5-CCCA-8CFF-035C-9C3C709C27A8}"/>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36F1E5FA-87D6-C1C3-5BE0-9ED29558BF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C2A55A98-FC97-8F3D-8472-1AF1AEC3F048}"/>
              </a:ext>
            </a:extLst>
          </p:cNvPr>
          <p:cNvSpPr>
            <a:spLocks noGrp="1"/>
          </p:cNvSpPr>
          <p:nvPr>
            <p:ph type="dt" sz="half" idx="10"/>
          </p:nvPr>
        </p:nvSpPr>
        <p:spPr/>
        <p:txBody>
          <a:bodyPr/>
          <a:lstStyle/>
          <a:p>
            <a:fld id="{596595CC-DC73-4D49-B6B7-9B67855449EE}" type="datetimeFigureOut">
              <a:rPr lang="it-IT" smtClean="0"/>
              <a:t>21/07/2026</a:t>
            </a:fld>
            <a:endParaRPr lang="it-IT" dirty="0"/>
          </a:p>
        </p:txBody>
      </p:sp>
      <p:sp>
        <p:nvSpPr>
          <p:cNvPr id="5" name="Segnaposto piè di pagina 4">
            <a:extLst>
              <a:ext uri="{FF2B5EF4-FFF2-40B4-BE49-F238E27FC236}">
                <a16:creationId xmlns:a16="http://schemas.microsoft.com/office/drawing/2014/main" id="{7B4D606A-FA51-4481-93D5-E04D3C6083D9}"/>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70EC6543-4383-B791-D0A7-B95BB513F469}"/>
              </a:ext>
            </a:extLst>
          </p:cNvPr>
          <p:cNvSpPr>
            <a:spLocks noGrp="1"/>
          </p:cNvSpPr>
          <p:nvPr>
            <p:ph type="sldNum" sz="quarter" idx="12"/>
          </p:nvPr>
        </p:nvSpPr>
        <p:spPr/>
        <p:txBody>
          <a:bodyPr/>
          <a:lstStyle/>
          <a:p>
            <a:fld id="{01F4D96A-26D3-4AA3-A240-18169F6C5B8C}" type="slidenum">
              <a:rPr lang="it-IT" smtClean="0"/>
              <a:t>‹N›</a:t>
            </a:fld>
            <a:endParaRPr lang="it-IT" dirty="0"/>
          </a:p>
        </p:txBody>
      </p:sp>
    </p:spTree>
    <p:extLst>
      <p:ext uri="{BB962C8B-B14F-4D97-AF65-F5344CB8AC3E}">
        <p14:creationId xmlns:p14="http://schemas.microsoft.com/office/powerpoint/2010/main" val="2030418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2B0422C-7F72-7C0F-434B-17B4E5BF8C6B}"/>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2221CDA-7D05-4A3E-89A9-80C8635BD231}"/>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02053DAA-4953-DE70-A1E5-C5B910A7CB6E}"/>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6397E84C-EB68-1C30-A47E-670EA4FAE296}"/>
              </a:ext>
            </a:extLst>
          </p:cNvPr>
          <p:cNvSpPr>
            <a:spLocks noGrp="1"/>
          </p:cNvSpPr>
          <p:nvPr>
            <p:ph type="dt" sz="half" idx="10"/>
          </p:nvPr>
        </p:nvSpPr>
        <p:spPr/>
        <p:txBody>
          <a:bodyPr/>
          <a:lstStyle/>
          <a:p>
            <a:fld id="{596595CC-DC73-4D49-B6B7-9B67855449EE}" type="datetimeFigureOut">
              <a:rPr lang="it-IT" smtClean="0"/>
              <a:t>21/07/2026</a:t>
            </a:fld>
            <a:endParaRPr lang="it-IT" dirty="0"/>
          </a:p>
        </p:txBody>
      </p:sp>
      <p:sp>
        <p:nvSpPr>
          <p:cNvPr id="6" name="Segnaposto piè di pagina 5">
            <a:extLst>
              <a:ext uri="{FF2B5EF4-FFF2-40B4-BE49-F238E27FC236}">
                <a16:creationId xmlns:a16="http://schemas.microsoft.com/office/drawing/2014/main" id="{D7DAC38D-94A1-C612-6A61-36C18701CF17}"/>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F281683A-4CC1-6FFE-3266-61785E411CD4}"/>
              </a:ext>
            </a:extLst>
          </p:cNvPr>
          <p:cNvSpPr>
            <a:spLocks noGrp="1"/>
          </p:cNvSpPr>
          <p:nvPr>
            <p:ph type="sldNum" sz="quarter" idx="12"/>
          </p:nvPr>
        </p:nvSpPr>
        <p:spPr/>
        <p:txBody>
          <a:bodyPr/>
          <a:lstStyle/>
          <a:p>
            <a:fld id="{01F4D96A-26D3-4AA3-A240-18169F6C5B8C}" type="slidenum">
              <a:rPr lang="it-IT" smtClean="0"/>
              <a:t>‹N›</a:t>
            </a:fld>
            <a:endParaRPr lang="it-IT" dirty="0"/>
          </a:p>
        </p:txBody>
      </p:sp>
    </p:spTree>
    <p:extLst>
      <p:ext uri="{BB962C8B-B14F-4D97-AF65-F5344CB8AC3E}">
        <p14:creationId xmlns:p14="http://schemas.microsoft.com/office/powerpoint/2010/main" val="3693004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DFF3C5B-6809-775D-F008-6B2E8DCC9C4D}"/>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37D3205A-3398-75D9-4438-04CF52DC2F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DC44EB03-4B81-CC33-ED1E-B0D69CB76A93}"/>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3E38EA72-0426-27B7-D1DB-57A44B2E3E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877C7119-E873-33CC-2D42-C59ADD226BDE}"/>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A41A2F4D-D2F8-AE70-11F8-AA4D00242F2B}"/>
              </a:ext>
            </a:extLst>
          </p:cNvPr>
          <p:cNvSpPr>
            <a:spLocks noGrp="1"/>
          </p:cNvSpPr>
          <p:nvPr>
            <p:ph type="dt" sz="half" idx="10"/>
          </p:nvPr>
        </p:nvSpPr>
        <p:spPr/>
        <p:txBody>
          <a:bodyPr/>
          <a:lstStyle/>
          <a:p>
            <a:fld id="{596595CC-DC73-4D49-B6B7-9B67855449EE}" type="datetimeFigureOut">
              <a:rPr lang="it-IT" smtClean="0"/>
              <a:t>21/07/2026</a:t>
            </a:fld>
            <a:endParaRPr lang="it-IT" dirty="0"/>
          </a:p>
        </p:txBody>
      </p:sp>
      <p:sp>
        <p:nvSpPr>
          <p:cNvPr id="8" name="Segnaposto piè di pagina 7">
            <a:extLst>
              <a:ext uri="{FF2B5EF4-FFF2-40B4-BE49-F238E27FC236}">
                <a16:creationId xmlns:a16="http://schemas.microsoft.com/office/drawing/2014/main" id="{4597FE1F-70C6-229C-1DD8-759788F97B99}"/>
              </a:ext>
            </a:extLst>
          </p:cNvPr>
          <p:cNvSpPr>
            <a:spLocks noGrp="1"/>
          </p:cNvSpPr>
          <p:nvPr>
            <p:ph type="ftr" sz="quarter" idx="11"/>
          </p:nvPr>
        </p:nvSpPr>
        <p:spPr/>
        <p:txBody>
          <a:bodyPr/>
          <a:lstStyle/>
          <a:p>
            <a:endParaRPr lang="it-IT" dirty="0"/>
          </a:p>
        </p:txBody>
      </p:sp>
      <p:sp>
        <p:nvSpPr>
          <p:cNvPr id="9" name="Segnaposto numero diapositiva 8">
            <a:extLst>
              <a:ext uri="{FF2B5EF4-FFF2-40B4-BE49-F238E27FC236}">
                <a16:creationId xmlns:a16="http://schemas.microsoft.com/office/drawing/2014/main" id="{E74F311F-1FBF-F64B-8DB6-CE70A9F53ADB}"/>
              </a:ext>
            </a:extLst>
          </p:cNvPr>
          <p:cNvSpPr>
            <a:spLocks noGrp="1"/>
          </p:cNvSpPr>
          <p:nvPr>
            <p:ph type="sldNum" sz="quarter" idx="12"/>
          </p:nvPr>
        </p:nvSpPr>
        <p:spPr/>
        <p:txBody>
          <a:bodyPr/>
          <a:lstStyle/>
          <a:p>
            <a:fld id="{01F4D96A-26D3-4AA3-A240-18169F6C5B8C}" type="slidenum">
              <a:rPr lang="it-IT" smtClean="0"/>
              <a:t>‹N›</a:t>
            </a:fld>
            <a:endParaRPr lang="it-IT" dirty="0"/>
          </a:p>
        </p:txBody>
      </p:sp>
    </p:spTree>
    <p:extLst>
      <p:ext uri="{BB962C8B-B14F-4D97-AF65-F5344CB8AC3E}">
        <p14:creationId xmlns:p14="http://schemas.microsoft.com/office/powerpoint/2010/main" val="2043683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362D01-8578-BF4A-0077-8065C974B33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4A44F52E-EB65-48D1-C5AA-407900F3C310}"/>
              </a:ext>
            </a:extLst>
          </p:cNvPr>
          <p:cNvSpPr>
            <a:spLocks noGrp="1"/>
          </p:cNvSpPr>
          <p:nvPr>
            <p:ph type="dt" sz="half" idx="10"/>
          </p:nvPr>
        </p:nvSpPr>
        <p:spPr/>
        <p:txBody>
          <a:bodyPr/>
          <a:lstStyle/>
          <a:p>
            <a:fld id="{596595CC-DC73-4D49-B6B7-9B67855449EE}" type="datetimeFigureOut">
              <a:rPr lang="it-IT" smtClean="0"/>
              <a:t>21/07/2026</a:t>
            </a:fld>
            <a:endParaRPr lang="it-IT" dirty="0"/>
          </a:p>
        </p:txBody>
      </p:sp>
      <p:sp>
        <p:nvSpPr>
          <p:cNvPr id="4" name="Segnaposto piè di pagina 3">
            <a:extLst>
              <a:ext uri="{FF2B5EF4-FFF2-40B4-BE49-F238E27FC236}">
                <a16:creationId xmlns:a16="http://schemas.microsoft.com/office/drawing/2014/main" id="{EBB22457-542E-BD16-8DCD-0F008ADDCF34}"/>
              </a:ext>
            </a:extLst>
          </p:cNvPr>
          <p:cNvSpPr>
            <a:spLocks noGrp="1"/>
          </p:cNvSpPr>
          <p:nvPr>
            <p:ph type="ftr" sz="quarter" idx="11"/>
          </p:nvPr>
        </p:nvSpPr>
        <p:spPr/>
        <p:txBody>
          <a:bodyPr/>
          <a:lstStyle/>
          <a:p>
            <a:endParaRPr lang="it-IT" dirty="0"/>
          </a:p>
        </p:txBody>
      </p:sp>
      <p:sp>
        <p:nvSpPr>
          <p:cNvPr id="5" name="Segnaposto numero diapositiva 4">
            <a:extLst>
              <a:ext uri="{FF2B5EF4-FFF2-40B4-BE49-F238E27FC236}">
                <a16:creationId xmlns:a16="http://schemas.microsoft.com/office/drawing/2014/main" id="{4FA80BCD-F462-BEF6-14AA-A58C1AA42EDF}"/>
              </a:ext>
            </a:extLst>
          </p:cNvPr>
          <p:cNvSpPr>
            <a:spLocks noGrp="1"/>
          </p:cNvSpPr>
          <p:nvPr>
            <p:ph type="sldNum" sz="quarter" idx="12"/>
          </p:nvPr>
        </p:nvSpPr>
        <p:spPr/>
        <p:txBody>
          <a:bodyPr/>
          <a:lstStyle/>
          <a:p>
            <a:fld id="{01F4D96A-26D3-4AA3-A240-18169F6C5B8C}" type="slidenum">
              <a:rPr lang="it-IT" smtClean="0"/>
              <a:t>‹N›</a:t>
            </a:fld>
            <a:endParaRPr lang="it-IT" dirty="0"/>
          </a:p>
        </p:txBody>
      </p:sp>
    </p:spTree>
    <p:extLst>
      <p:ext uri="{BB962C8B-B14F-4D97-AF65-F5344CB8AC3E}">
        <p14:creationId xmlns:p14="http://schemas.microsoft.com/office/powerpoint/2010/main" val="3271912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DEADE27B-8B75-9DB3-8C05-C610AA78432F}"/>
              </a:ext>
            </a:extLst>
          </p:cNvPr>
          <p:cNvSpPr>
            <a:spLocks noGrp="1"/>
          </p:cNvSpPr>
          <p:nvPr>
            <p:ph type="dt" sz="half" idx="10"/>
          </p:nvPr>
        </p:nvSpPr>
        <p:spPr/>
        <p:txBody>
          <a:bodyPr/>
          <a:lstStyle/>
          <a:p>
            <a:fld id="{596595CC-DC73-4D49-B6B7-9B67855449EE}" type="datetimeFigureOut">
              <a:rPr lang="it-IT" smtClean="0"/>
              <a:t>21/07/2026</a:t>
            </a:fld>
            <a:endParaRPr lang="it-IT" dirty="0"/>
          </a:p>
        </p:txBody>
      </p:sp>
      <p:sp>
        <p:nvSpPr>
          <p:cNvPr id="3" name="Segnaposto piè di pagina 2">
            <a:extLst>
              <a:ext uri="{FF2B5EF4-FFF2-40B4-BE49-F238E27FC236}">
                <a16:creationId xmlns:a16="http://schemas.microsoft.com/office/drawing/2014/main" id="{5F4787DD-64A2-1900-635D-88B426423352}"/>
              </a:ext>
            </a:extLst>
          </p:cNvPr>
          <p:cNvSpPr>
            <a:spLocks noGrp="1"/>
          </p:cNvSpPr>
          <p:nvPr>
            <p:ph type="ftr" sz="quarter" idx="11"/>
          </p:nvPr>
        </p:nvSpPr>
        <p:spPr/>
        <p:txBody>
          <a:bodyPr/>
          <a:lstStyle/>
          <a:p>
            <a:endParaRPr lang="it-IT" dirty="0"/>
          </a:p>
        </p:txBody>
      </p:sp>
      <p:sp>
        <p:nvSpPr>
          <p:cNvPr id="4" name="Segnaposto numero diapositiva 3">
            <a:extLst>
              <a:ext uri="{FF2B5EF4-FFF2-40B4-BE49-F238E27FC236}">
                <a16:creationId xmlns:a16="http://schemas.microsoft.com/office/drawing/2014/main" id="{54039F95-22F0-AC44-897A-E29F8159FBF2}"/>
              </a:ext>
            </a:extLst>
          </p:cNvPr>
          <p:cNvSpPr>
            <a:spLocks noGrp="1"/>
          </p:cNvSpPr>
          <p:nvPr>
            <p:ph type="sldNum" sz="quarter" idx="12"/>
          </p:nvPr>
        </p:nvSpPr>
        <p:spPr/>
        <p:txBody>
          <a:bodyPr/>
          <a:lstStyle/>
          <a:p>
            <a:fld id="{01F4D96A-26D3-4AA3-A240-18169F6C5B8C}" type="slidenum">
              <a:rPr lang="it-IT" smtClean="0"/>
              <a:t>‹N›</a:t>
            </a:fld>
            <a:endParaRPr lang="it-IT" dirty="0"/>
          </a:p>
        </p:txBody>
      </p:sp>
    </p:spTree>
    <p:extLst>
      <p:ext uri="{BB962C8B-B14F-4D97-AF65-F5344CB8AC3E}">
        <p14:creationId xmlns:p14="http://schemas.microsoft.com/office/powerpoint/2010/main" val="3722701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BBA55B-E82E-E433-AA24-437F84133DE4}"/>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E685168-611F-F3F0-5A69-31E81054E9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EAA0B62B-2182-F8D9-C932-AB4EEE9CA7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5C50759D-B303-3BED-3ACE-4A627184A4AE}"/>
              </a:ext>
            </a:extLst>
          </p:cNvPr>
          <p:cNvSpPr>
            <a:spLocks noGrp="1"/>
          </p:cNvSpPr>
          <p:nvPr>
            <p:ph type="dt" sz="half" idx="10"/>
          </p:nvPr>
        </p:nvSpPr>
        <p:spPr/>
        <p:txBody>
          <a:bodyPr/>
          <a:lstStyle/>
          <a:p>
            <a:fld id="{596595CC-DC73-4D49-B6B7-9B67855449EE}" type="datetimeFigureOut">
              <a:rPr lang="it-IT" smtClean="0"/>
              <a:t>21/07/2026</a:t>
            </a:fld>
            <a:endParaRPr lang="it-IT" dirty="0"/>
          </a:p>
        </p:txBody>
      </p:sp>
      <p:sp>
        <p:nvSpPr>
          <p:cNvPr id="6" name="Segnaposto piè di pagina 5">
            <a:extLst>
              <a:ext uri="{FF2B5EF4-FFF2-40B4-BE49-F238E27FC236}">
                <a16:creationId xmlns:a16="http://schemas.microsoft.com/office/drawing/2014/main" id="{5C9BEABB-DAA1-BE44-9041-C93FC44B3D71}"/>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42A43FAC-40D4-1622-2336-D323CB8A66A5}"/>
              </a:ext>
            </a:extLst>
          </p:cNvPr>
          <p:cNvSpPr>
            <a:spLocks noGrp="1"/>
          </p:cNvSpPr>
          <p:nvPr>
            <p:ph type="sldNum" sz="quarter" idx="12"/>
          </p:nvPr>
        </p:nvSpPr>
        <p:spPr/>
        <p:txBody>
          <a:bodyPr/>
          <a:lstStyle/>
          <a:p>
            <a:fld id="{01F4D96A-26D3-4AA3-A240-18169F6C5B8C}" type="slidenum">
              <a:rPr lang="it-IT" smtClean="0"/>
              <a:t>‹N›</a:t>
            </a:fld>
            <a:endParaRPr lang="it-IT" dirty="0"/>
          </a:p>
        </p:txBody>
      </p:sp>
    </p:spTree>
    <p:extLst>
      <p:ext uri="{BB962C8B-B14F-4D97-AF65-F5344CB8AC3E}">
        <p14:creationId xmlns:p14="http://schemas.microsoft.com/office/powerpoint/2010/main" val="78992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79CFBD6-091D-FA31-0E75-039484EB0735}"/>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B2B5A73-1000-918D-B958-A312AD3C1C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1A3C0888-57C5-293D-F1A7-F7A51CA6B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9B5FA570-39F7-13B8-053C-BEE01FBE348D}"/>
              </a:ext>
            </a:extLst>
          </p:cNvPr>
          <p:cNvSpPr>
            <a:spLocks noGrp="1"/>
          </p:cNvSpPr>
          <p:nvPr>
            <p:ph type="dt" sz="half" idx="10"/>
          </p:nvPr>
        </p:nvSpPr>
        <p:spPr/>
        <p:txBody>
          <a:bodyPr/>
          <a:lstStyle/>
          <a:p>
            <a:fld id="{596595CC-DC73-4D49-B6B7-9B67855449EE}" type="datetimeFigureOut">
              <a:rPr lang="it-IT" smtClean="0"/>
              <a:t>21/07/2026</a:t>
            </a:fld>
            <a:endParaRPr lang="it-IT" dirty="0"/>
          </a:p>
        </p:txBody>
      </p:sp>
      <p:sp>
        <p:nvSpPr>
          <p:cNvPr id="6" name="Segnaposto piè di pagina 5">
            <a:extLst>
              <a:ext uri="{FF2B5EF4-FFF2-40B4-BE49-F238E27FC236}">
                <a16:creationId xmlns:a16="http://schemas.microsoft.com/office/drawing/2014/main" id="{8F987EB3-FBBB-962D-8F7C-B96ADC757433}"/>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BC4C7681-4E89-8AD1-7691-1AFA848D3A45}"/>
              </a:ext>
            </a:extLst>
          </p:cNvPr>
          <p:cNvSpPr>
            <a:spLocks noGrp="1"/>
          </p:cNvSpPr>
          <p:nvPr>
            <p:ph type="sldNum" sz="quarter" idx="12"/>
          </p:nvPr>
        </p:nvSpPr>
        <p:spPr/>
        <p:txBody>
          <a:bodyPr/>
          <a:lstStyle/>
          <a:p>
            <a:fld id="{01F4D96A-26D3-4AA3-A240-18169F6C5B8C}" type="slidenum">
              <a:rPr lang="it-IT" smtClean="0"/>
              <a:t>‹N›</a:t>
            </a:fld>
            <a:endParaRPr lang="it-IT" dirty="0"/>
          </a:p>
        </p:txBody>
      </p:sp>
    </p:spTree>
    <p:extLst>
      <p:ext uri="{BB962C8B-B14F-4D97-AF65-F5344CB8AC3E}">
        <p14:creationId xmlns:p14="http://schemas.microsoft.com/office/powerpoint/2010/main" val="1844202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517DD5D-3057-CD67-6B01-49E891EB21C3}"/>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F03E002-F461-22B8-56FA-4EDA6FE8DA62}"/>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34BE6A4-9666-B3D9-C9EA-EEF469059C5A}"/>
              </a:ext>
            </a:extLst>
          </p:cNvPr>
          <p:cNvSpPr>
            <a:spLocks noGrp="1"/>
          </p:cNvSpPr>
          <p:nvPr>
            <p:ph type="dt" sz="half" idx="10"/>
          </p:nvPr>
        </p:nvSpPr>
        <p:spPr/>
        <p:txBody>
          <a:bodyPr/>
          <a:lstStyle/>
          <a:p>
            <a:fld id="{596595CC-DC73-4D49-B6B7-9B67855449EE}" type="datetimeFigureOut">
              <a:rPr lang="it-IT" smtClean="0"/>
              <a:t>21/07/2026</a:t>
            </a:fld>
            <a:endParaRPr lang="it-IT" dirty="0"/>
          </a:p>
        </p:txBody>
      </p:sp>
      <p:sp>
        <p:nvSpPr>
          <p:cNvPr id="5" name="Segnaposto piè di pagina 4">
            <a:extLst>
              <a:ext uri="{FF2B5EF4-FFF2-40B4-BE49-F238E27FC236}">
                <a16:creationId xmlns:a16="http://schemas.microsoft.com/office/drawing/2014/main" id="{13E7749F-2566-8E03-4D30-436B918C688C}"/>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CF05539B-A780-9531-8F5A-4A52B73504D1}"/>
              </a:ext>
            </a:extLst>
          </p:cNvPr>
          <p:cNvSpPr>
            <a:spLocks noGrp="1"/>
          </p:cNvSpPr>
          <p:nvPr>
            <p:ph type="sldNum" sz="quarter" idx="12"/>
          </p:nvPr>
        </p:nvSpPr>
        <p:spPr/>
        <p:txBody>
          <a:bodyPr/>
          <a:lstStyle/>
          <a:p>
            <a:fld id="{01F4D96A-26D3-4AA3-A240-18169F6C5B8C}" type="slidenum">
              <a:rPr lang="it-IT" smtClean="0"/>
              <a:t>‹N›</a:t>
            </a:fld>
            <a:endParaRPr lang="it-IT" dirty="0"/>
          </a:p>
        </p:txBody>
      </p:sp>
    </p:spTree>
    <p:extLst>
      <p:ext uri="{BB962C8B-B14F-4D97-AF65-F5344CB8AC3E}">
        <p14:creationId xmlns:p14="http://schemas.microsoft.com/office/powerpoint/2010/main" val="4020184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ABDCE00B-CFF5-6C6A-69FD-207DD59BBAD1}"/>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3C5CF00-8287-5898-0364-534D93DA185C}"/>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4A6051D-F37F-4D72-A1BC-A3C15EEA9102}"/>
              </a:ext>
            </a:extLst>
          </p:cNvPr>
          <p:cNvSpPr>
            <a:spLocks noGrp="1"/>
          </p:cNvSpPr>
          <p:nvPr>
            <p:ph type="dt" sz="half" idx="10"/>
          </p:nvPr>
        </p:nvSpPr>
        <p:spPr/>
        <p:txBody>
          <a:bodyPr/>
          <a:lstStyle/>
          <a:p>
            <a:fld id="{596595CC-DC73-4D49-B6B7-9B67855449EE}" type="datetimeFigureOut">
              <a:rPr lang="it-IT" smtClean="0"/>
              <a:t>21/07/2026</a:t>
            </a:fld>
            <a:endParaRPr lang="it-IT" dirty="0"/>
          </a:p>
        </p:txBody>
      </p:sp>
      <p:sp>
        <p:nvSpPr>
          <p:cNvPr id="5" name="Segnaposto piè di pagina 4">
            <a:extLst>
              <a:ext uri="{FF2B5EF4-FFF2-40B4-BE49-F238E27FC236}">
                <a16:creationId xmlns:a16="http://schemas.microsoft.com/office/drawing/2014/main" id="{F5880783-C7A2-E025-F2F3-103BC9EACFA1}"/>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89B54612-2F43-8A7F-75BB-D388AEABCC36}"/>
              </a:ext>
            </a:extLst>
          </p:cNvPr>
          <p:cNvSpPr>
            <a:spLocks noGrp="1"/>
          </p:cNvSpPr>
          <p:nvPr>
            <p:ph type="sldNum" sz="quarter" idx="12"/>
          </p:nvPr>
        </p:nvSpPr>
        <p:spPr/>
        <p:txBody>
          <a:bodyPr/>
          <a:lstStyle/>
          <a:p>
            <a:fld id="{01F4D96A-26D3-4AA3-A240-18169F6C5B8C}" type="slidenum">
              <a:rPr lang="it-IT" smtClean="0"/>
              <a:t>‹N›</a:t>
            </a:fld>
            <a:endParaRPr lang="it-IT" dirty="0"/>
          </a:p>
        </p:txBody>
      </p:sp>
    </p:spTree>
    <p:extLst>
      <p:ext uri="{BB962C8B-B14F-4D97-AF65-F5344CB8AC3E}">
        <p14:creationId xmlns:p14="http://schemas.microsoft.com/office/powerpoint/2010/main" val="3770835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04007A01-B309-1D5A-6AF9-B6D5D56DD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A31770A6-0B60-85D4-7046-9DEF293C82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44FF19F-3FEC-444B-7C65-BB45150D46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96595CC-DC73-4D49-B6B7-9B67855449EE}" type="datetimeFigureOut">
              <a:rPr lang="it-IT" smtClean="0"/>
              <a:t>21/07/2026</a:t>
            </a:fld>
            <a:endParaRPr lang="it-IT" dirty="0"/>
          </a:p>
        </p:txBody>
      </p:sp>
      <p:sp>
        <p:nvSpPr>
          <p:cNvPr id="5" name="Segnaposto piè di pagina 4">
            <a:extLst>
              <a:ext uri="{FF2B5EF4-FFF2-40B4-BE49-F238E27FC236}">
                <a16:creationId xmlns:a16="http://schemas.microsoft.com/office/drawing/2014/main" id="{042064E4-4F57-7851-4631-D53DC2BFA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dirty="0"/>
          </a:p>
        </p:txBody>
      </p:sp>
      <p:sp>
        <p:nvSpPr>
          <p:cNvPr id="6" name="Segnaposto numero diapositiva 5">
            <a:extLst>
              <a:ext uri="{FF2B5EF4-FFF2-40B4-BE49-F238E27FC236}">
                <a16:creationId xmlns:a16="http://schemas.microsoft.com/office/drawing/2014/main" id="{9D5FCC66-C3EB-8A88-0A56-A151D4D0CC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F4D96A-26D3-4AA3-A240-18169F6C5B8C}" type="slidenum">
              <a:rPr lang="it-IT" smtClean="0"/>
              <a:t>‹N›</a:t>
            </a:fld>
            <a:endParaRPr lang="it-IT" dirty="0"/>
          </a:p>
        </p:txBody>
      </p:sp>
    </p:spTree>
    <p:extLst>
      <p:ext uri="{BB962C8B-B14F-4D97-AF65-F5344CB8AC3E}">
        <p14:creationId xmlns:p14="http://schemas.microsoft.com/office/powerpoint/2010/main" val="1699342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jp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jp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egnaposto contenuto 3" descr="Pin on Mobile wallpaper">
            <a:extLst>
              <a:ext uri="{FF2B5EF4-FFF2-40B4-BE49-F238E27FC236}">
                <a16:creationId xmlns:a16="http://schemas.microsoft.com/office/drawing/2014/main" id="{D9D5578C-30E8-53E7-69F7-46B0D3FB6517}"/>
              </a:ext>
            </a:extLst>
          </p:cNvPr>
          <p:cNvPicPr>
            <a:picLocks noChangeAspect="1"/>
          </p:cNvPicPr>
          <p:nvPr/>
        </p:nvPicPr>
        <p:blipFill>
          <a:blip r:embed="rId2"/>
          <a:srcRect b="19"/>
          <a:stretch>
            <a:fillRect/>
          </a:stretch>
        </p:blipFill>
        <p:spPr>
          <a:xfrm>
            <a:off x="20" y="1282"/>
            <a:ext cx="12191980" cy="6856718"/>
          </a:xfrm>
          <a:prstGeom prst="rect">
            <a:avLst/>
          </a:prstGeom>
        </p:spPr>
      </p:pic>
      <p:sp>
        <p:nvSpPr>
          <p:cNvPr id="2" name="Titolo 1">
            <a:extLst>
              <a:ext uri="{FF2B5EF4-FFF2-40B4-BE49-F238E27FC236}">
                <a16:creationId xmlns:a16="http://schemas.microsoft.com/office/drawing/2014/main" id="{451C2695-799F-3870-3516-82F9E5E9FBB7}"/>
              </a:ext>
            </a:extLst>
          </p:cNvPr>
          <p:cNvSpPr>
            <a:spLocks noGrp="1"/>
          </p:cNvSpPr>
          <p:nvPr>
            <p:ph type="ctrTitle"/>
          </p:nvPr>
        </p:nvSpPr>
        <p:spPr/>
        <p:txBody>
          <a:bodyPr>
            <a:normAutofit/>
            <a:scene3d>
              <a:camera prst="perspectiveRelaxedModerately"/>
              <a:lightRig rig="threePt" dir="t"/>
            </a:scene3d>
          </a:bodyPr>
          <a:lstStyle/>
          <a:p>
            <a:r>
              <a:rPr lang="en-US" sz="6600" noProof="0" dirty="0">
                <a:solidFill>
                  <a:srgbClr val="FFFF00"/>
                </a:solidFill>
              </a:rPr>
              <a:t>Autonomous Orbital Maintenance Platform</a:t>
            </a:r>
          </a:p>
        </p:txBody>
      </p:sp>
      <p:sp>
        <p:nvSpPr>
          <p:cNvPr id="3" name="Sottotitolo 2">
            <a:extLst>
              <a:ext uri="{FF2B5EF4-FFF2-40B4-BE49-F238E27FC236}">
                <a16:creationId xmlns:a16="http://schemas.microsoft.com/office/drawing/2014/main" id="{676EF595-E84E-5878-A47D-A4118FCB93CE}"/>
              </a:ext>
            </a:extLst>
          </p:cNvPr>
          <p:cNvSpPr>
            <a:spLocks noGrp="1"/>
          </p:cNvSpPr>
          <p:nvPr>
            <p:ph type="subTitle" idx="1"/>
          </p:nvPr>
        </p:nvSpPr>
        <p:spPr>
          <a:xfrm>
            <a:off x="1524000" y="3602038"/>
            <a:ext cx="9144000" cy="658074"/>
          </a:xfrm>
        </p:spPr>
        <p:txBody>
          <a:bodyPr>
            <a:normAutofit/>
            <a:scene3d>
              <a:camera prst="perspectiveRelaxedModerately"/>
              <a:lightRig rig="threePt" dir="t"/>
            </a:scene3d>
          </a:bodyPr>
          <a:lstStyle/>
          <a:p>
            <a:r>
              <a:rPr lang="en-US" sz="2800" noProof="0" dirty="0">
                <a:solidFill>
                  <a:srgbClr val="FFFF00"/>
                </a:solidFill>
              </a:rPr>
              <a:t>Fault Diagnosis and Contingency Recovery</a:t>
            </a:r>
          </a:p>
        </p:txBody>
      </p:sp>
      <p:sp>
        <p:nvSpPr>
          <p:cNvPr id="5" name="CasellaDiTesto 4">
            <a:extLst>
              <a:ext uri="{FF2B5EF4-FFF2-40B4-BE49-F238E27FC236}">
                <a16:creationId xmlns:a16="http://schemas.microsoft.com/office/drawing/2014/main" id="{58D4DAB9-48B4-9F42-3DB0-09F48535427F}"/>
              </a:ext>
            </a:extLst>
          </p:cNvPr>
          <p:cNvSpPr txBox="1"/>
          <p:nvPr/>
        </p:nvSpPr>
        <p:spPr>
          <a:xfrm>
            <a:off x="9661452" y="6211540"/>
            <a:ext cx="2266646" cy="461665"/>
          </a:xfrm>
          <a:prstGeom prst="rect">
            <a:avLst/>
          </a:prstGeom>
          <a:noFill/>
        </p:spPr>
        <p:txBody>
          <a:bodyPr wrap="none" rtlCol="0">
            <a:spAutoFit/>
          </a:bodyPr>
          <a:lstStyle/>
          <a:p>
            <a:r>
              <a:rPr lang="it-IT" sz="2400" dirty="0">
                <a:solidFill>
                  <a:srgbClr val="FFFF00"/>
                </a:solidFill>
              </a:rPr>
              <a:t>Michele Tozzola</a:t>
            </a:r>
            <a:endParaRPr lang="en-GB" sz="2400" dirty="0">
              <a:solidFill>
                <a:srgbClr val="FFFF00"/>
              </a:solidFill>
            </a:endParaRPr>
          </a:p>
        </p:txBody>
      </p:sp>
    </p:spTree>
    <p:extLst>
      <p:ext uri="{BB962C8B-B14F-4D97-AF65-F5344CB8AC3E}">
        <p14:creationId xmlns:p14="http://schemas.microsoft.com/office/powerpoint/2010/main" val="3001974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BD579C1-EE33-1A5F-3826-DC39BAD28903}"/>
              </a:ext>
            </a:extLst>
          </p:cNvPr>
          <p:cNvSpPr>
            <a:spLocks noGrp="1"/>
          </p:cNvSpPr>
          <p:nvPr>
            <p:ph type="title"/>
          </p:nvPr>
        </p:nvSpPr>
        <p:spPr/>
        <p:txBody>
          <a:bodyPr/>
          <a:lstStyle/>
          <a:p>
            <a:r>
              <a:rPr lang="en-US" noProof="0" dirty="0"/>
              <a:t>Scenario</a:t>
            </a:r>
          </a:p>
        </p:txBody>
      </p:sp>
      <p:sp>
        <p:nvSpPr>
          <p:cNvPr id="3" name="Segnaposto contenuto 2">
            <a:extLst>
              <a:ext uri="{FF2B5EF4-FFF2-40B4-BE49-F238E27FC236}">
                <a16:creationId xmlns:a16="http://schemas.microsoft.com/office/drawing/2014/main" id="{7ED4A931-3CA3-B5D8-CEE6-019531A26425}"/>
              </a:ext>
            </a:extLst>
          </p:cNvPr>
          <p:cNvSpPr>
            <a:spLocks noGrp="1"/>
          </p:cNvSpPr>
          <p:nvPr>
            <p:ph idx="1"/>
          </p:nvPr>
        </p:nvSpPr>
        <p:spPr>
          <a:xfrm>
            <a:off x="838200" y="1825625"/>
            <a:ext cx="6004661" cy="4351338"/>
          </a:xfrm>
        </p:spPr>
        <p:txBody>
          <a:bodyPr/>
          <a:lstStyle/>
          <a:p>
            <a:r>
              <a:rPr lang="en-US" noProof="0" dirty="0"/>
              <a:t>A free-climbing robot on an external platform with fault-prone components</a:t>
            </a:r>
          </a:p>
          <a:p>
            <a:r>
              <a:rPr lang="en-US" noProof="0" dirty="0"/>
              <a:t>Not all faults are directly observable</a:t>
            </a:r>
          </a:p>
          <a:p>
            <a:r>
              <a:rPr lang="en-US" noProof="0" dirty="0"/>
              <a:t>The robot must perform diagnostic actions, identify the fault, execute a recovery or repair procedure and verify the system again</a:t>
            </a:r>
          </a:p>
        </p:txBody>
      </p:sp>
      <p:pic>
        <p:nvPicPr>
          <p:cNvPr id="4" name="Immagine 3" descr="NASA: How Astronauts Celebrate The 4th Of July On The International ...">
            <a:extLst>
              <a:ext uri="{FF2B5EF4-FFF2-40B4-BE49-F238E27FC236}">
                <a16:creationId xmlns:a16="http://schemas.microsoft.com/office/drawing/2014/main" id="{8433C794-F99D-A0CF-E4F7-3C87A5245704}"/>
              </a:ext>
            </a:extLst>
          </p:cNvPr>
          <p:cNvPicPr>
            <a:picLocks noChangeAspect="1"/>
          </p:cNvPicPr>
          <p:nvPr/>
        </p:nvPicPr>
        <p:blipFill>
          <a:blip r:embed="rId3"/>
          <a:stretch>
            <a:fillRect/>
          </a:stretch>
        </p:blipFill>
        <p:spPr>
          <a:xfrm>
            <a:off x="7206826" y="895893"/>
            <a:ext cx="4502500" cy="2533107"/>
          </a:xfrm>
          <a:prstGeom prst="rect">
            <a:avLst/>
          </a:prstGeom>
        </p:spPr>
      </p:pic>
    </p:spTree>
    <p:extLst>
      <p:ext uri="{BB962C8B-B14F-4D97-AF65-F5344CB8AC3E}">
        <p14:creationId xmlns:p14="http://schemas.microsoft.com/office/powerpoint/2010/main" val="82487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F18C18-3233-7097-231B-C1265876AC6D}"/>
              </a:ext>
            </a:extLst>
          </p:cNvPr>
          <p:cNvSpPr>
            <a:spLocks noGrp="1"/>
          </p:cNvSpPr>
          <p:nvPr>
            <p:ph type="title"/>
          </p:nvPr>
        </p:nvSpPr>
        <p:spPr>
          <a:xfrm>
            <a:off x="3610521" y="311037"/>
            <a:ext cx="4525892" cy="1325563"/>
          </a:xfrm>
        </p:spPr>
        <p:txBody>
          <a:bodyPr/>
          <a:lstStyle/>
          <a:p>
            <a:r>
              <a:rPr lang="en-US" noProof="0" dirty="0"/>
              <a:t>Architecture flow </a:t>
            </a:r>
          </a:p>
        </p:txBody>
      </p:sp>
      <p:sp>
        <p:nvSpPr>
          <p:cNvPr id="4" name="Rettangolo con angoli arrotondati 3">
            <a:extLst>
              <a:ext uri="{FF2B5EF4-FFF2-40B4-BE49-F238E27FC236}">
                <a16:creationId xmlns:a16="http://schemas.microsoft.com/office/drawing/2014/main" id="{64D5B343-87C2-5AD0-E9FC-562313D568AC}"/>
              </a:ext>
            </a:extLst>
          </p:cNvPr>
          <p:cNvSpPr/>
          <p:nvPr/>
        </p:nvSpPr>
        <p:spPr>
          <a:xfrm>
            <a:off x="781412" y="1636600"/>
            <a:ext cx="2125835" cy="617365"/>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Observe symptoms</a:t>
            </a:r>
          </a:p>
        </p:txBody>
      </p:sp>
      <p:sp>
        <p:nvSpPr>
          <p:cNvPr id="7" name="Rettangolo con angoli arrotondati 6">
            <a:extLst>
              <a:ext uri="{FF2B5EF4-FFF2-40B4-BE49-F238E27FC236}">
                <a16:creationId xmlns:a16="http://schemas.microsoft.com/office/drawing/2014/main" id="{6EFCD085-6F25-2E7C-68D9-9BB937C11905}"/>
              </a:ext>
            </a:extLst>
          </p:cNvPr>
          <p:cNvSpPr/>
          <p:nvPr/>
        </p:nvSpPr>
        <p:spPr>
          <a:xfrm>
            <a:off x="2907247" y="2567366"/>
            <a:ext cx="2125835" cy="617365"/>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Run diagnostic test</a:t>
            </a:r>
          </a:p>
        </p:txBody>
      </p:sp>
      <p:sp>
        <p:nvSpPr>
          <p:cNvPr id="9" name="Rettangolo con angoli arrotondati 8">
            <a:extLst>
              <a:ext uri="{FF2B5EF4-FFF2-40B4-BE49-F238E27FC236}">
                <a16:creationId xmlns:a16="http://schemas.microsoft.com/office/drawing/2014/main" id="{1281B7E6-DB81-79C0-87A1-9A6619969648}"/>
              </a:ext>
            </a:extLst>
          </p:cNvPr>
          <p:cNvSpPr/>
          <p:nvPr/>
        </p:nvSpPr>
        <p:spPr>
          <a:xfrm>
            <a:off x="5033082" y="3493413"/>
            <a:ext cx="2125835" cy="617365"/>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Confirm the fault</a:t>
            </a:r>
          </a:p>
        </p:txBody>
      </p:sp>
      <p:sp>
        <p:nvSpPr>
          <p:cNvPr id="11" name="Rettangolo con angoli arrotondati 10">
            <a:extLst>
              <a:ext uri="{FF2B5EF4-FFF2-40B4-BE49-F238E27FC236}">
                <a16:creationId xmlns:a16="http://schemas.microsoft.com/office/drawing/2014/main" id="{11E74C7F-3AD9-4563-574A-84205985D388}"/>
              </a:ext>
            </a:extLst>
          </p:cNvPr>
          <p:cNvSpPr/>
          <p:nvPr/>
        </p:nvSpPr>
        <p:spPr>
          <a:xfrm>
            <a:off x="7158917" y="4419460"/>
            <a:ext cx="2125835" cy="617365"/>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Repair</a:t>
            </a:r>
          </a:p>
        </p:txBody>
      </p:sp>
      <p:sp>
        <p:nvSpPr>
          <p:cNvPr id="13" name="Rettangolo con angoli arrotondati 12">
            <a:extLst>
              <a:ext uri="{FF2B5EF4-FFF2-40B4-BE49-F238E27FC236}">
                <a16:creationId xmlns:a16="http://schemas.microsoft.com/office/drawing/2014/main" id="{C4C263CC-59DC-7E17-9763-F34BB2AE075B}"/>
              </a:ext>
            </a:extLst>
          </p:cNvPr>
          <p:cNvSpPr/>
          <p:nvPr/>
        </p:nvSpPr>
        <p:spPr>
          <a:xfrm>
            <a:off x="9284752" y="5324825"/>
            <a:ext cx="2125835" cy="617365"/>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noProof="0" dirty="0"/>
              <a:t>Verify</a:t>
            </a:r>
          </a:p>
        </p:txBody>
      </p:sp>
      <p:cxnSp>
        <p:nvCxnSpPr>
          <p:cNvPr id="17" name="Connettore curvo 16">
            <a:extLst>
              <a:ext uri="{FF2B5EF4-FFF2-40B4-BE49-F238E27FC236}">
                <a16:creationId xmlns:a16="http://schemas.microsoft.com/office/drawing/2014/main" id="{9752DFFA-3168-2C67-92CF-30E78F36C7F5}"/>
              </a:ext>
            </a:extLst>
          </p:cNvPr>
          <p:cNvCxnSpPr>
            <a:cxnSpLocks/>
          </p:cNvCxnSpPr>
          <p:nvPr/>
        </p:nvCxnSpPr>
        <p:spPr>
          <a:xfrm rot="16200000" flipH="1">
            <a:off x="2763247" y="1347749"/>
            <a:ext cx="288000" cy="2125835"/>
          </a:xfrm>
          <a:prstGeom prst="curved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0" name="Connettore curvo 19">
            <a:extLst>
              <a:ext uri="{FF2B5EF4-FFF2-40B4-BE49-F238E27FC236}">
                <a16:creationId xmlns:a16="http://schemas.microsoft.com/office/drawing/2014/main" id="{B6724F01-026C-BC40-69E8-B73F34D16439}"/>
              </a:ext>
            </a:extLst>
          </p:cNvPr>
          <p:cNvCxnSpPr>
            <a:cxnSpLocks/>
          </p:cNvCxnSpPr>
          <p:nvPr/>
        </p:nvCxnSpPr>
        <p:spPr>
          <a:xfrm rot="16200000" flipH="1">
            <a:off x="4889082" y="2265815"/>
            <a:ext cx="288000" cy="2125835"/>
          </a:xfrm>
          <a:prstGeom prst="curved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Connettore curvo 20">
            <a:extLst>
              <a:ext uri="{FF2B5EF4-FFF2-40B4-BE49-F238E27FC236}">
                <a16:creationId xmlns:a16="http://schemas.microsoft.com/office/drawing/2014/main" id="{397537E0-339D-7824-0835-9543549FF2EE}"/>
              </a:ext>
            </a:extLst>
          </p:cNvPr>
          <p:cNvCxnSpPr>
            <a:cxnSpLocks/>
          </p:cNvCxnSpPr>
          <p:nvPr/>
        </p:nvCxnSpPr>
        <p:spPr>
          <a:xfrm rot="16200000" flipH="1">
            <a:off x="7014917" y="3191861"/>
            <a:ext cx="288000" cy="2125835"/>
          </a:xfrm>
          <a:prstGeom prst="curved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3" name="Connettore curvo 22">
            <a:extLst>
              <a:ext uri="{FF2B5EF4-FFF2-40B4-BE49-F238E27FC236}">
                <a16:creationId xmlns:a16="http://schemas.microsoft.com/office/drawing/2014/main" id="{9FC9ED36-F516-5962-9CA5-30642FE586CC}"/>
              </a:ext>
            </a:extLst>
          </p:cNvPr>
          <p:cNvCxnSpPr>
            <a:cxnSpLocks/>
          </p:cNvCxnSpPr>
          <p:nvPr/>
        </p:nvCxnSpPr>
        <p:spPr>
          <a:xfrm rot="16200000" flipH="1">
            <a:off x="9140752" y="4097226"/>
            <a:ext cx="288000" cy="2125835"/>
          </a:xfrm>
          <a:prstGeom prst="curved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89736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27E869-C3EB-EEA7-6FE5-EF59C9896F01}"/>
              </a:ext>
            </a:extLst>
          </p:cNvPr>
          <p:cNvSpPr>
            <a:spLocks noGrp="1"/>
          </p:cNvSpPr>
          <p:nvPr>
            <p:ph type="title"/>
          </p:nvPr>
        </p:nvSpPr>
        <p:spPr>
          <a:xfrm>
            <a:off x="395561" y="580621"/>
            <a:ext cx="9418223" cy="659934"/>
          </a:xfrm>
        </p:spPr>
        <p:txBody>
          <a:bodyPr>
            <a:normAutofit fontScale="90000"/>
          </a:bodyPr>
          <a:lstStyle/>
          <a:p>
            <a:r>
              <a:rPr lang="en-US" noProof="0" dirty="0"/>
              <a:t>Modularity</a:t>
            </a:r>
          </a:p>
        </p:txBody>
      </p:sp>
      <p:sp>
        <p:nvSpPr>
          <p:cNvPr id="3" name="Segnaposto contenuto 2">
            <a:extLst>
              <a:ext uri="{FF2B5EF4-FFF2-40B4-BE49-F238E27FC236}">
                <a16:creationId xmlns:a16="http://schemas.microsoft.com/office/drawing/2014/main" id="{8FB1AC46-F753-AE09-92BE-7EF241E4BF10}"/>
              </a:ext>
            </a:extLst>
          </p:cNvPr>
          <p:cNvSpPr>
            <a:spLocks noGrp="1"/>
          </p:cNvSpPr>
          <p:nvPr>
            <p:ph idx="1"/>
          </p:nvPr>
        </p:nvSpPr>
        <p:spPr>
          <a:xfrm>
            <a:off x="306741" y="1749910"/>
            <a:ext cx="11578517" cy="3899567"/>
          </a:xfrm>
        </p:spPr>
        <p:txBody>
          <a:bodyPr>
            <a:normAutofit/>
          </a:bodyPr>
          <a:lstStyle/>
          <a:p>
            <a:r>
              <a:rPr lang="en-US" sz="1800" noProof="0" dirty="0"/>
              <a:t>What is the name of the </a:t>
            </a:r>
            <a:r>
              <a:rPr lang="en-US" sz="1800" b="1" noProof="0" dirty="0"/>
              <a:t>new fault</a:t>
            </a:r>
            <a:r>
              <a:rPr lang="en-US" sz="1800" noProof="0" dirty="0"/>
              <a:t>?</a:t>
            </a:r>
          </a:p>
          <a:p>
            <a:r>
              <a:rPr lang="en-US" sz="1800" noProof="0" dirty="0"/>
              <a:t>What is the name of the </a:t>
            </a:r>
            <a:r>
              <a:rPr lang="en-US" sz="1800" b="1" noProof="0" dirty="0"/>
              <a:t>symptom(s)</a:t>
            </a:r>
            <a:r>
              <a:rPr lang="en-US" sz="1800" noProof="0" dirty="0"/>
              <a:t> associated with this fault?</a:t>
            </a:r>
          </a:p>
          <a:p>
            <a:r>
              <a:rPr lang="en-US" sz="1800" noProof="0" dirty="0"/>
              <a:t>What is the name of the new </a:t>
            </a:r>
            <a:r>
              <a:rPr lang="en-US" sz="1800" b="1" noProof="0" dirty="0"/>
              <a:t>diagnostic test </a:t>
            </a:r>
            <a:r>
              <a:rPr lang="en-US" sz="1800" noProof="0" dirty="0"/>
              <a:t>to identify this fault?</a:t>
            </a:r>
          </a:p>
          <a:p>
            <a:r>
              <a:rPr lang="en-US" sz="1800" noProof="0" dirty="0"/>
              <a:t>What is the name of the </a:t>
            </a:r>
            <a:r>
              <a:rPr lang="en-US" sz="1800" b="1" noProof="0" dirty="0"/>
              <a:t>recovery action </a:t>
            </a:r>
            <a:r>
              <a:rPr lang="en-US" sz="1800" noProof="0" dirty="0"/>
              <a:t>to fix this fault?</a:t>
            </a:r>
          </a:p>
          <a:p>
            <a:r>
              <a:rPr lang="en-US" sz="1800" noProof="0" dirty="0"/>
              <a:t>Which specific components can this test be applied to?		      (</a:t>
            </a:r>
            <a:r>
              <a:rPr lang="en-US" sz="1800" noProof="0" dirty="0" err="1"/>
              <a:t>applicable_test</a:t>
            </a:r>
            <a:r>
              <a:rPr lang="en-US" sz="1800" noProof="0" dirty="0"/>
              <a:t> &lt;test&gt; &lt;component&gt;)</a:t>
            </a:r>
          </a:p>
          <a:p>
            <a:r>
              <a:rPr lang="en-US" sz="1800" noProof="0" dirty="0"/>
              <a:t>Which symptom must be present for this test to be relevant?	              (</a:t>
            </a:r>
            <a:r>
              <a:rPr lang="en-US" sz="1800" noProof="0" dirty="0" err="1"/>
              <a:t>test_requires_symptom</a:t>
            </a:r>
            <a:r>
              <a:rPr lang="en-US" sz="1800" noProof="0" dirty="0"/>
              <a:t> &lt;test&gt; &lt;symptom&gt;)</a:t>
            </a:r>
          </a:p>
          <a:p>
            <a:r>
              <a:rPr lang="en-US" sz="1800" noProof="0" dirty="0"/>
              <a:t>Does this test require specific physical conditions?</a:t>
            </a:r>
          </a:p>
          <a:p>
            <a:pPr lvl="1">
              <a:buFont typeface="Wingdings" panose="05000000000000000000" pitchFamily="2" charset="2"/>
              <a:buChar char="q"/>
            </a:pPr>
            <a:r>
              <a:rPr lang="en-US" sz="1400" noProof="0" dirty="0"/>
              <a:t>(</a:t>
            </a:r>
            <a:r>
              <a:rPr lang="en-US" sz="1400" noProof="0" dirty="0" err="1"/>
              <a:t>test_requires_open</a:t>
            </a:r>
            <a:r>
              <a:rPr lang="en-US" sz="1400" noProof="0" dirty="0"/>
              <a:t> &lt;test&gt;)</a:t>
            </a:r>
          </a:p>
          <a:p>
            <a:pPr lvl="1">
              <a:buFont typeface="Wingdings" panose="05000000000000000000" pitchFamily="2" charset="2"/>
              <a:buChar char="q"/>
            </a:pPr>
            <a:r>
              <a:rPr lang="en-US" sz="1400" noProof="0" dirty="0"/>
              <a:t>(</a:t>
            </a:r>
            <a:r>
              <a:rPr lang="en-US" sz="1400" noProof="0" dirty="0" err="1"/>
              <a:t>test_requires_closed</a:t>
            </a:r>
            <a:r>
              <a:rPr lang="en-US" sz="1400" noProof="0" dirty="0"/>
              <a:t> &lt;test&gt;)</a:t>
            </a:r>
          </a:p>
          <a:p>
            <a:pPr lvl="1">
              <a:buFont typeface="Wingdings" panose="05000000000000000000" pitchFamily="2" charset="2"/>
              <a:buChar char="q"/>
            </a:pPr>
            <a:r>
              <a:rPr lang="en-US" sz="1400" noProof="0" dirty="0"/>
              <a:t>(</a:t>
            </a:r>
            <a:r>
              <a:rPr lang="en-US" sz="1400" noProof="0" dirty="0" err="1"/>
              <a:t>test_requires_neighbor</a:t>
            </a:r>
            <a:r>
              <a:rPr lang="en-US" sz="1400" noProof="0" dirty="0"/>
              <a:t> &lt;test&gt;)</a:t>
            </a:r>
            <a:endParaRPr lang="en-US" sz="1800" noProof="0" dirty="0"/>
          </a:p>
        </p:txBody>
      </p:sp>
    </p:spTree>
    <p:extLst>
      <p:ext uri="{BB962C8B-B14F-4D97-AF65-F5344CB8AC3E}">
        <p14:creationId xmlns:p14="http://schemas.microsoft.com/office/powerpoint/2010/main" val="1804577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2B36FB2-8D8F-23E7-3114-02BF6331732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465EBB9-1C91-73A5-DE55-EF515C04FDA1}"/>
              </a:ext>
            </a:extLst>
          </p:cNvPr>
          <p:cNvSpPr>
            <a:spLocks noGrp="1"/>
          </p:cNvSpPr>
          <p:nvPr>
            <p:ph type="title"/>
          </p:nvPr>
        </p:nvSpPr>
        <p:spPr>
          <a:xfrm>
            <a:off x="395561" y="580621"/>
            <a:ext cx="9418223" cy="659934"/>
          </a:xfrm>
        </p:spPr>
        <p:txBody>
          <a:bodyPr>
            <a:normAutofit fontScale="90000"/>
          </a:bodyPr>
          <a:lstStyle/>
          <a:p>
            <a:r>
              <a:rPr lang="en-US" noProof="0" dirty="0"/>
              <a:t>Modularity</a:t>
            </a:r>
          </a:p>
        </p:txBody>
      </p:sp>
      <p:sp>
        <p:nvSpPr>
          <p:cNvPr id="3" name="Segnaposto contenuto 2">
            <a:extLst>
              <a:ext uri="{FF2B5EF4-FFF2-40B4-BE49-F238E27FC236}">
                <a16:creationId xmlns:a16="http://schemas.microsoft.com/office/drawing/2014/main" id="{156EEA0A-6C52-FD05-310B-E7F05B5D7096}"/>
              </a:ext>
            </a:extLst>
          </p:cNvPr>
          <p:cNvSpPr>
            <a:spLocks noGrp="1"/>
          </p:cNvSpPr>
          <p:nvPr>
            <p:ph idx="1"/>
          </p:nvPr>
        </p:nvSpPr>
        <p:spPr>
          <a:xfrm>
            <a:off x="306741" y="1749911"/>
            <a:ext cx="11578517" cy="3689896"/>
          </a:xfrm>
        </p:spPr>
        <p:txBody>
          <a:bodyPr>
            <a:normAutofit/>
          </a:bodyPr>
          <a:lstStyle/>
          <a:p>
            <a:r>
              <a:rPr lang="en-US" sz="1800" noProof="0" dirty="0"/>
              <a:t>Does this test indicate the new fault?					   (</a:t>
            </a:r>
            <a:r>
              <a:rPr lang="en-US" sz="1800" noProof="0" dirty="0" err="1"/>
              <a:t>test_indicates</a:t>
            </a:r>
            <a:r>
              <a:rPr lang="en-US" sz="1800" noProof="0" dirty="0"/>
              <a:t> &lt;test&gt; &lt;fault&gt;)</a:t>
            </a:r>
          </a:p>
          <a:p>
            <a:r>
              <a:rPr lang="en-US" sz="1800" noProof="0" dirty="0"/>
              <a:t>Is the new symptom unreliable?					               (</a:t>
            </a:r>
            <a:r>
              <a:rPr lang="en-US" sz="1800" noProof="0" dirty="0" err="1"/>
              <a:t>unreliable_symptom</a:t>
            </a:r>
            <a:r>
              <a:rPr lang="en-US" sz="1800" noProof="0" dirty="0"/>
              <a:t> &lt;symptom&gt;)</a:t>
            </a:r>
          </a:p>
          <a:p>
            <a:r>
              <a:rPr lang="en-US" sz="1800" noProof="0" dirty="0"/>
              <a:t>Does this fault physically prevent the component from moving?               	             (</a:t>
            </a:r>
            <a:r>
              <a:rPr lang="en-US" sz="1800" noProof="0" dirty="0" err="1"/>
              <a:t>fault_prevents_movement</a:t>
            </a:r>
            <a:r>
              <a:rPr lang="en-US" sz="1800" noProof="0" dirty="0"/>
              <a:t> &lt;fault&gt;)</a:t>
            </a:r>
          </a:p>
          <a:p>
            <a:r>
              <a:rPr lang="en-US" sz="1800" noProof="0" dirty="0"/>
              <a:t>Which recovery action fixes this specific fault?			           (</a:t>
            </a:r>
            <a:r>
              <a:rPr lang="en-US" sz="1800" noProof="0" dirty="0" err="1"/>
              <a:t>fixed_by</a:t>
            </a:r>
            <a:r>
              <a:rPr lang="en-US" sz="1800" noProof="0" dirty="0"/>
              <a:t> &lt;</a:t>
            </a:r>
            <a:r>
              <a:rPr lang="en-US" sz="1800" noProof="0" dirty="0" err="1"/>
              <a:t>recovery_action</a:t>
            </a:r>
            <a:r>
              <a:rPr lang="en-US" sz="1800" noProof="0" dirty="0"/>
              <a:t>&gt; &lt;fault&gt;)</a:t>
            </a:r>
          </a:p>
          <a:p>
            <a:r>
              <a:rPr lang="en-US" sz="1800" noProof="0" dirty="0"/>
              <a:t>What physical requirements are needed to execute this recovery action? </a:t>
            </a:r>
          </a:p>
          <a:p>
            <a:pPr lvl="1">
              <a:buFont typeface="Wingdings" panose="05000000000000000000" pitchFamily="2" charset="2"/>
              <a:buChar char="q"/>
            </a:pPr>
            <a:r>
              <a:rPr lang="en-US" sz="1400" noProof="0" dirty="0"/>
              <a:t>(</a:t>
            </a:r>
            <a:r>
              <a:rPr lang="en-US" sz="1400" noProof="0" dirty="0" err="1"/>
              <a:t>recovery_requires_torque</a:t>
            </a:r>
            <a:r>
              <a:rPr lang="en-US" sz="1400" noProof="0" dirty="0"/>
              <a:t> &lt;</a:t>
            </a:r>
            <a:r>
              <a:rPr lang="en-US" sz="1400" noProof="0" dirty="0" err="1"/>
              <a:t>recovery_action</a:t>
            </a:r>
            <a:r>
              <a:rPr lang="en-US" sz="1400" noProof="0" dirty="0"/>
              <a:t>&gt;)</a:t>
            </a:r>
          </a:p>
          <a:p>
            <a:pPr lvl="1">
              <a:buFont typeface="Wingdings" panose="05000000000000000000" pitchFamily="2" charset="2"/>
              <a:buChar char="q"/>
            </a:pPr>
            <a:r>
              <a:rPr lang="en-US" sz="1400" noProof="0" dirty="0"/>
              <a:t>(</a:t>
            </a:r>
            <a:r>
              <a:rPr lang="en-US" sz="1400" noProof="0" dirty="0" err="1"/>
              <a:t>recovery_requires_spare</a:t>
            </a:r>
            <a:r>
              <a:rPr lang="en-US" sz="1400" noProof="0" dirty="0"/>
              <a:t> &lt;</a:t>
            </a:r>
            <a:r>
              <a:rPr lang="en-US" sz="1400" noProof="0" dirty="0" err="1"/>
              <a:t>recovery_action</a:t>
            </a:r>
            <a:r>
              <a:rPr lang="en-US" sz="1400" noProof="0" dirty="0"/>
              <a:t>&gt;)</a:t>
            </a:r>
          </a:p>
          <a:p>
            <a:pPr lvl="1">
              <a:buFont typeface="Wingdings" panose="05000000000000000000" pitchFamily="2" charset="2"/>
              <a:buChar char="q"/>
            </a:pPr>
            <a:r>
              <a:rPr lang="en-US" sz="1400" noProof="0" dirty="0"/>
              <a:t>(</a:t>
            </a:r>
            <a:r>
              <a:rPr lang="en-US" sz="1400" noProof="0" dirty="0" err="1"/>
              <a:t>recovery_requires_closed</a:t>
            </a:r>
            <a:r>
              <a:rPr lang="en-US" sz="1400" noProof="0" dirty="0"/>
              <a:t> &lt;</a:t>
            </a:r>
            <a:r>
              <a:rPr lang="en-US" sz="1400" noProof="0" dirty="0" err="1"/>
              <a:t>recovery_action</a:t>
            </a:r>
            <a:r>
              <a:rPr lang="en-US" sz="1400" noProof="0" dirty="0"/>
              <a:t>&gt;)</a:t>
            </a:r>
          </a:p>
          <a:p>
            <a:r>
              <a:rPr lang="en-US" sz="1800" noProof="0" dirty="0"/>
              <a:t>Which old symptom does it clear?		             (</a:t>
            </a:r>
            <a:r>
              <a:rPr lang="en-US" sz="1800" noProof="0" dirty="0" err="1"/>
              <a:t>recovery_clears_symptom</a:t>
            </a:r>
            <a:r>
              <a:rPr lang="en-US" sz="1800" noProof="0" dirty="0"/>
              <a:t> &lt;</a:t>
            </a:r>
            <a:r>
              <a:rPr lang="en-US" sz="1800" noProof="0" dirty="0" err="1"/>
              <a:t>recovery_action</a:t>
            </a:r>
            <a:r>
              <a:rPr lang="en-US" sz="1800" noProof="0" dirty="0"/>
              <a:t>&gt; &lt;</a:t>
            </a:r>
            <a:r>
              <a:rPr lang="en-US" sz="1800" noProof="0" dirty="0" err="1"/>
              <a:t>old_symptom</a:t>
            </a:r>
            <a:r>
              <a:rPr lang="en-US" sz="1800" noProof="0" dirty="0"/>
              <a:t>&gt;)</a:t>
            </a:r>
          </a:p>
          <a:p>
            <a:r>
              <a:rPr lang="en-US" sz="1800" noProof="0" dirty="0"/>
              <a:t>Which new symptom does it set?		               (</a:t>
            </a:r>
            <a:r>
              <a:rPr lang="en-US" sz="1800" noProof="0" dirty="0" err="1"/>
              <a:t>recovery_sets_symptom</a:t>
            </a:r>
            <a:r>
              <a:rPr lang="en-US" sz="1800" noProof="0" dirty="0"/>
              <a:t> &lt;</a:t>
            </a:r>
            <a:r>
              <a:rPr lang="en-US" sz="1800" noProof="0" dirty="0" err="1"/>
              <a:t>recovery_action</a:t>
            </a:r>
            <a:r>
              <a:rPr lang="en-US" sz="1800" noProof="0" dirty="0"/>
              <a:t>&gt; &lt;</a:t>
            </a:r>
            <a:r>
              <a:rPr lang="en-US" sz="1800" noProof="0" dirty="0" err="1"/>
              <a:t>new_symptom</a:t>
            </a:r>
            <a:r>
              <a:rPr lang="en-US" sz="1800" noProof="0" dirty="0"/>
              <a:t>&gt;)</a:t>
            </a:r>
          </a:p>
        </p:txBody>
      </p:sp>
    </p:spTree>
    <p:extLst>
      <p:ext uri="{BB962C8B-B14F-4D97-AF65-F5344CB8AC3E}">
        <p14:creationId xmlns:p14="http://schemas.microsoft.com/office/powerpoint/2010/main" val="3429147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E6A9556-BC1B-0BD0-3029-9F639419A2BD}"/>
              </a:ext>
            </a:extLst>
          </p:cNvPr>
          <p:cNvSpPr>
            <a:spLocks noGrp="1"/>
          </p:cNvSpPr>
          <p:nvPr>
            <p:ph type="title"/>
          </p:nvPr>
        </p:nvSpPr>
        <p:spPr/>
        <p:txBody>
          <a:bodyPr/>
          <a:lstStyle/>
          <a:p>
            <a:r>
              <a:rPr lang="en-US" noProof="0" dirty="0"/>
              <a:t>Inspiration</a:t>
            </a:r>
          </a:p>
        </p:txBody>
      </p:sp>
      <p:pic>
        <p:nvPicPr>
          <p:cNvPr id="4" name="Segnaposto contenuto 3">
            <a:extLst>
              <a:ext uri="{FF2B5EF4-FFF2-40B4-BE49-F238E27FC236}">
                <a16:creationId xmlns:a16="http://schemas.microsoft.com/office/drawing/2014/main" id="{F386034A-F6F4-AA7C-DFF4-CFFA4ADFC31C}"/>
              </a:ext>
            </a:extLst>
          </p:cNvPr>
          <p:cNvPicPr>
            <a:picLocks noGrp="1" noChangeAspect="1"/>
          </p:cNvPicPr>
          <p:nvPr>
            <p:ph idx="1"/>
          </p:nvPr>
        </p:nvPicPr>
        <p:blipFill>
          <a:blip r:embed="rId3"/>
          <a:stretch>
            <a:fillRect/>
          </a:stretch>
        </p:blipFill>
        <p:spPr>
          <a:xfrm>
            <a:off x="7240953" y="1690688"/>
            <a:ext cx="3736627" cy="3013409"/>
          </a:xfrm>
          <a:prstGeom prst="rect">
            <a:avLst/>
          </a:prstGeom>
        </p:spPr>
      </p:pic>
      <p:sp>
        <p:nvSpPr>
          <p:cNvPr id="6" name="CasellaDiTesto 5">
            <a:extLst>
              <a:ext uri="{FF2B5EF4-FFF2-40B4-BE49-F238E27FC236}">
                <a16:creationId xmlns:a16="http://schemas.microsoft.com/office/drawing/2014/main" id="{F480387A-9733-F8B2-3E51-3AC54EB90F4D}"/>
              </a:ext>
            </a:extLst>
          </p:cNvPr>
          <p:cNvSpPr txBox="1"/>
          <p:nvPr/>
        </p:nvSpPr>
        <p:spPr>
          <a:xfrm>
            <a:off x="6830034" y="4902281"/>
            <a:ext cx="4558464" cy="923330"/>
          </a:xfrm>
          <a:prstGeom prst="rect">
            <a:avLst/>
          </a:prstGeom>
          <a:noFill/>
        </p:spPr>
        <p:txBody>
          <a:bodyPr wrap="square">
            <a:spAutoFit/>
          </a:bodyPr>
          <a:lstStyle/>
          <a:p>
            <a:r>
              <a:rPr lang="en-US" noProof="0" dirty="0"/>
              <a:t>Mission specialist Clayton Anderson waves while working to install a new ammonia tank outside the station.</a:t>
            </a:r>
            <a:r>
              <a:rPr lang="en-US" b="0" i="0" noProof="0" dirty="0">
                <a:solidFill>
                  <a:srgbClr val="FFFFFF"/>
                </a:solidFill>
                <a:effectLst/>
                <a:latin typeface="Times New Roman" panose="02020603050405020304" pitchFamily="18" charset="0"/>
              </a:rPr>
              <a:t> </a:t>
            </a:r>
            <a:r>
              <a:rPr lang="en-US" noProof="0" dirty="0"/>
              <a:t>(NASA)</a:t>
            </a:r>
          </a:p>
        </p:txBody>
      </p:sp>
      <p:sp>
        <p:nvSpPr>
          <p:cNvPr id="7" name="CasellaDiTesto 6">
            <a:extLst>
              <a:ext uri="{FF2B5EF4-FFF2-40B4-BE49-F238E27FC236}">
                <a16:creationId xmlns:a16="http://schemas.microsoft.com/office/drawing/2014/main" id="{0C1C8278-D137-0E23-2D71-CD46FA1F8983}"/>
              </a:ext>
            </a:extLst>
          </p:cNvPr>
          <p:cNvSpPr txBox="1"/>
          <p:nvPr/>
        </p:nvSpPr>
        <p:spPr>
          <a:xfrm>
            <a:off x="950496" y="1943100"/>
            <a:ext cx="4968390" cy="2031325"/>
          </a:xfrm>
          <a:prstGeom prst="rect">
            <a:avLst/>
          </a:prstGeom>
          <a:noFill/>
        </p:spPr>
        <p:txBody>
          <a:bodyPr wrap="square" rtlCol="0">
            <a:spAutoFit/>
          </a:bodyPr>
          <a:lstStyle/>
          <a:p>
            <a:r>
              <a:rPr lang="en-US" noProof="0" dirty="0"/>
              <a:t>During the STS-131 mission, a critical valve on a newly installed ammonia coolant tank got stuck in the closed position. Because of the severity of the malfunction, NASA heavily considered adding an unplanned fourth spacewalk (EVA) and extending the shuttle's mission to manually fix the issue.</a:t>
            </a:r>
          </a:p>
        </p:txBody>
      </p:sp>
    </p:spTree>
    <p:extLst>
      <p:ext uri="{BB962C8B-B14F-4D97-AF65-F5344CB8AC3E}">
        <p14:creationId xmlns:p14="http://schemas.microsoft.com/office/powerpoint/2010/main" val="2664670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C2DD21-0755-2D8D-C711-D4D3EA211F4F}"/>
              </a:ext>
            </a:extLst>
          </p:cNvPr>
          <p:cNvSpPr>
            <a:spLocks noGrp="1"/>
          </p:cNvSpPr>
          <p:nvPr>
            <p:ph type="title"/>
          </p:nvPr>
        </p:nvSpPr>
        <p:spPr>
          <a:xfrm>
            <a:off x="721958" y="330180"/>
            <a:ext cx="10515600" cy="904551"/>
          </a:xfrm>
        </p:spPr>
        <p:txBody>
          <a:bodyPr>
            <a:normAutofit/>
          </a:bodyPr>
          <a:lstStyle/>
          <a:p>
            <a:r>
              <a:rPr lang="en-US" sz="4000" noProof="0" dirty="0"/>
              <a:t>Assumption</a:t>
            </a:r>
          </a:p>
        </p:txBody>
      </p:sp>
      <p:sp>
        <p:nvSpPr>
          <p:cNvPr id="3" name="Segnaposto contenuto 2">
            <a:extLst>
              <a:ext uri="{FF2B5EF4-FFF2-40B4-BE49-F238E27FC236}">
                <a16:creationId xmlns:a16="http://schemas.microsoft.com/office/drawing/2014/main" id="{576EE8D8-7C71-CEBB-F031-970E43648C31}"/>
              </a:ext>
            </a:extLst>
          </p:cNvPr>
          <p:cNvSpPr>
            <a:spLocks noGrp="1"/>
          </p:cNvSpPr>
          <p:nvPr>
            <p:ph idx="1"/>
          </p:nvPr>
        </p:nvSpPr>
        <p:spPr>
          <a:xfrm>
            <a:off x="721958" y="1487821"/>
            <a:ext cx="10748083" cy="4351338"/>
          </a:xfrm>
        </p:spPr>
        <p:txBody>
          <a:bodyPr/>
          <a:lstStyle/>
          <a:p>
            <a:pPr marL="0" indent="0">
              <a:buNone/>
            </a:pPr>
            <a:r>
              <a:rPr lang="en-US" sz="1800" noProof="0" dirty="0"/>
              <a:t>General:</a:t>
            </a:r>
          </a:p>
          <a:p>
            <a:r>
              <a:rPr lang="en-US" sz="1800" noProof="0" dirty="0"/>
              <a:t>At least one element in a system tank-valve-tank is working properly.</a:t>
            </a:r>
          </a:p>
          <a:p>
            <a:r>
              <a:rPr lang="en-US" sz="1800" noProof="0" dirty="0"/>
              <a:t>When independent indicators agree during a specific system state, their collective output is considered reliable.</a:t>
            </a:r>
          </a:p>
          <a:p>
            <a:pPr marL="0" indent="0">
              <a:buNone/>
            </a:pPr>
            <a:endParaRPr lang="en-US" sz="1800" noProof="0" dirty="0"/>
          </a:p>
          <a:p>
            <a:pPr marL="0" indent="0">
              <a:buNone/>
            </a:pPr>
            <a:r>
              <a:rPr lang="en-US" sz="1800" noProof="0" dirty="0"/>
              <a:t>Valve:</a:t>
            </a:r>
          </a:p>
          <a:p>
            <a:r>
              <a:rPr lang="en-US" sz="1800" noProof="0" dirty="0"/>
              <a:t>What the robot sees might not be the true state of the valve</a:t>
            </a:r>
          </a:p>
          <a:p>
            <a:endParaRPr lang="en-US" sz="1800" noProof="0" dirty="0"/>
          </a:p>
          <a:p>
            <a:pPr marL="0" indent="0">
              <a:buNone/>
            </a:pPr>
            <a:r>
              <a:rPr lang="en-US" sz="1800" noProof="0" dirty="0"/>
              <a:t>Pressure sensors:</a:t>
            </a:r>
          </a:p>
          <a:p>
            <a:r>
              <a:rPr lang="en-US" sz="1800" noProof="0" dirty="0"/>
              <a:t>If the sensor is reading </a:t>
            </a:r>
            <a:r>
              <a:rPr lang="en-US" sz="1800" b="1" noProof="0" dirty="0"/>
              <a:t>erratic values</a:t>
            </a:r>
            <a:r>
              <a:rPr lang="en-US" sz="1800" noProof="0" dirty="0"/>
              <a:t>, it is broken</a:t>
            </a:r>
          </a:p>
          <a:p>
            <a:r>
              <a:rPr lang="en-US" sz="1800" noProof="0" dirty="0"/>
              <a:t>If the sensor is reading a </a:t>
            </a:r>
            <a:r>
              <a:rPr lang="en-US" sz="1800" b="1" noProof="0" dirty="0"/>
              <a:t>stable pressure</a:t>
            </a:r>
            <a:r>
              <a:rPr lang="en-US" sz="1800" noProof="0" dirty="0"/>
              <a:t>, it might be broken, provided adjacent sensors disagree</a:t>
            </a:r>
          </a:p>
          <a:p>
            <a:r>
              <a:rPr lang="en-US" sz="1800" noProof="0" dirty="0"/>
              <a:t>If the sensor is reading a </a:t>
            </a:r>
            <a:r>
              <a:rPr lang="en-US" sz="1800" b="1" noProof="0" dirty="0"/>
              <a:t>changing pressure</a:t>
            </a:r>
            <a:r>
              <a:rPr lang="en-US" sz="1800" noProof="0" dirty="0"/>
              <a:t>, it is working for sure (no drift effect)</a:t>
            </a:r>
          </a:p>
          <a:p>
            <a:pPr marL="0" indent="0">
              <a:buNone/>
            </a:pPr>
            <a:endParaRPr lang="en-US" sz="1800" noProof="0" dirty="0"/>
          </a:p>
          <a:p>
            <a:pPr marL="0" indent="0">
              <a:buNone/>
            </a:pPr>
            <a:endParaRPr lang="en-US" noProof="0" dirty="0"/>
          </a:p>
          <a:p>
            <a:pPr marL="0" indent="0">
              <a:buNone/>
            </a:pPr>
            <a:endParaRPr lang="en-US" noProof="0" dirty="0"/>
          </a:p>
        </p:txBody>
      </p:sp>
    </p:spTree>
    <p:extLst>
      <p:ext uri="{BB962C8B-B14F-4D97-AF65-F5344CB8AC3E}">
        <p14:creationId xmlns:p14="http://schemas.microsoft.com/office/powerpoint/2010/main" val="2703654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Segnaposto contenuto 3" descr="Pin on Mobile wallpaper">
            <a:extLst>
              <a:ext uri="{FF2B5EF4-FFF2-40B4-BE49-F238E27FC236}">
                <a16:creationId xmlns:a16="http://schemas.microsoft.com/office/drawing/2014/main" id="{F57D6F6D-0651-5B21-E508-F97CC8175658}"/>
              </a:ext>
            </a:extLst>
          </p:cNvPr>
          <p:cNvPicPr>
            <a:picLocks noGrp="1" noChangeAspect="1"/>
          </p:cNvPicPr>
          <p:nvPr>
            <p:ph idx="1"/>
          </p:nvPr>
        </p:nvPicPr>
        <p:blipFill>
          <a:blip r:embed="rId3"/>
          <a:srcRect b="19"/>
          <a:stretch>
            <a:fillRect/>
          </a:stretch>
        </p:blipFill>
        <p:spPr>
          <a:xfrm>
            <a:off x="20" y="1282"/>
            <a:ext cx="12191980" cy="6856718"/>
          </a:xfrm>
          <a:prstGeom prst="rect">
            <a:avLst/>
          </a:prstGeom>
        </p:spPr>
      </p:pic>
      <p:sp>
        <p:nvSpPr>
          <p:cNvPr id="15" name="Rettangolo con angoli arrotondati 14">
            <a:extLst>
              <a:ext uri="{FF2B5EF4-FFF2-40B4-BE49-F238E27FC236}">
                <a16:creationId xmlns:a16="http://schemas.microsoft.com/office/drawing/2014/main" id="{1FFFECF4-AF34-C899-B5FE-F4FFED09DE5F}"/>
              </a:ext>
            </a:extLst>
          </p:cNvPr>
          <p:cNvSpPr/>
          <p:nvPr/>
        </p:nvSpPr>
        <p:spPr>
          <a:xfrm>
            <a:off x="8429750" y="1491912"/>
            <a:ext cx="2713665" cy="40365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ttangolo con angoli arrotondati 13">
            <a:extLst>
              <a:ext uri="{FF2B5EF4-FFF2-40B4-BE49-F238E27FC236}">
                <a16:creationId xmlns:a16="http://schemas.microsoft.com/office/drawing/2014/main" id="{793B6BDD-982E-196D-ECFE-ED049AC2AC1A}"/>
              </a:ext>
            </a:extLst>
          </p:cNvPr>
          <p:cNvSpPr/>
          <p:nvPr/>
        </p:nvSpPr>
        <p:spPr>
          <a:xfrm>
            <a:off x="4739167" y="1491913"/>
            <a:ext cx="2713665" cy="40365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dirty="0"/>
          </a:p>
        </p:txBody>
      </p:sp>
      <p:sp>
        <p:nvSpPr>
          <p:cNvPr id="5" name="Rettangolo con angoli arrotondati 4">
            <a:extLst>
              <a:ext uri="{FF2B5EF4-FFF2-40B4-BE49-F238E27FC236}">
                <a16:creationId xmlns:a16="http://schemas.microsoft.com/office/drawing/2014/main" id="{52264899-E99D-40DF-3C96-7EF8C77F3BF1}"/>
              </a:ext>
            </a:extLst>
          </p:cNvPr>
          <p:cNvSpPr/>
          <p:nvPr/>
        </p:nvSpPr>
        <p:spPr>
          <a:xfrm>
            <a:off x="1048584" y="1491913"/>
            <a:ext cx="2713665" cy="40365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CasellaDiTesto 7">
            <a:extLst>
              <a:ext uri="{FF2B5EF4-FFF2-40B4-BE49-F238E27FC236}">
                <a16:creationId xmlns:a16="http://schemas.microsoft.com/office/drawing/2014/main" id="{F0DBE668-937E-E39C-9E51-877E1CC0C26B}"/>
              </a:ext>
            </a:extLst>
          </p:cNvPr>
          <p:cNvSpPr txBox="1"/>
          <p:nvPr/>
        </p:nvSpPr>
        <p:spPr>
          <a:xfrm>
            <a:off x="2069139" y="1560887"/>
            <a:ext cx="672556" cy="369332"/>
          </a:xfrm>
          <a:prstGeom prst="rect">
            <a:avLst/>
          </a:prstGeom>
          <a:noFill/>
        </p:spPr>
        <p:txBody>
          <a:bodyPr wrap="none" rtlCol="0">
            <a:spAutoFit/>
          </a:bodyPr>
          <a:lstStyle/>
          <a:p>
            <a:r>
              <a:rPr lang="en-US" noProof="0" dirty="0">
                <a:highlight>
                  <a:srgbClr val="FFFF00"/>
                </a:highlight>
              </a:rPr>
              <a:t>Loc1</a:t>
            </a:r>
          </a:p>
        </p:txBody>
      </p:sp>
      <p:sp>
        <p:nvSpPr>
          <p:cNvPr id="10" name="CasellaDiTesto 9">
            <a:extLst>
              <a:ext uri="{FF2B5EF4-FFF2-40B4-BE49-F238E27FC236}">
                <a16:creationId xmlns:a16="http://schemas.microsoft.com/office/drawing/2014/main" id="{43942AFF-20F7-328F-3D28-2760A7DAC549}"/>
              </a:ext>
            </a:extLst>
          </p:cNvPr>
          <p:cNvSpPr txBox="1"/>
          <p:nvPr/>
        </p:nvSpPr>
        <p:spPr>
          <a:xfrm>
            <a:off x="5759722" y="1560887"/>
            <a:ext cx="672556" cy="369332"/>
          </a:xfrm>
          <a:prstGeom prst="rect">
            <a:avLst/>
          </a:prstGeom>
          <a:noFill/>
        </p:spPr>
        <p:txBody>
          <a:bodyPr wrap="none" rtlCol="0">
            <a:spAutoFit/>
          </a:bodyPr>
          <a:lstStyle/>
          <a:p>
            <a:r>
              <a:rPr lang="en-US" noProof="0" dirty="0">
                <a:highlight>
                  <a:srgbClr val="FFFF00"/>
                </a:highlight>
              </a:rPr>
              <a:t>Loc2</a:t>
            </a:r>
          </a:p>
        </p:txBody>
      </p:sp>
      <p:sp>
        <p:nvSpPr>
          <p:cNvPr id="11" name="CasellaDiTesto 10">
            <a:extLst>
              <a:ext uri="{FF2B5EF4-FFF2-40B4-BE49-F238E27FC236}">
                <a16:creationId xmlns:a16="http://schemas.microsoft.com/office/drawing/2014/main" id="{24FD4512-3F51-C3F2-5C85-E321BA45FB11}"/>
              </a:ext>
            </a:extLst>
          </p:cNvPr>
          <p:cNvSpPr txBox="1"/>
          <p:nvPr/>
        </p:nvSpPr>
        <p:spPr>
          <a:xfrm>
            <a:off x="9450304" y="1560887"/>
            <a:ext cx="672556" cy="369332"/>
          </a:xfrm>
          <a:prstGeom prst="rect">
            <a:avLst/>
          </a:prstGeom>
          <a:noFill/>
        </p:spPr>
        <p:txBody>
          <a:bodyPr wrap="none" rtlCol="0">
            <a:spAutoFit/>
          </a:bodyPr>
          <a:lstStyle/>
          <a:p>
            <a:r>
              <a:rPr lang="en-US" noProof="0" dirty="0">
                <a:highlight>
                  <a:srgbClr val="FFFF00"/>
                </a:highlight>
              </a:rPr>
              <a:t>Loc3</a:t>
            </a:r>
          </a:p>
        </p:txBody>
      </p:sp>
      <p:pic>
        <p:nvPicPr>
          <p:cNvPr id="13" name="Immagine 12" descr="The image depicts a simple, cylindrical water tank with a metal frame, typically used for storage or heating purposes.&#10;&#10;Il contenuto generato dall'IA potrebbe non essere corretto.">
            <a:extLst>
              <a:ext uri="{FF2B5EF4-FFF2-40B4-BE49-F238E27FC236}">
                <a16:creationId xmlns:a16="http://schemas.microsoft.com/office/drawing/2014/main" id="{FB5B3485-06D8-5585-430E-CB1B99A1D6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4039" y="1976042"/>
            <a:ext cx="1862756" cy="1168879"/>
          </a:xfrm>
          <a:prstGeom prst="rect">
            <a:avLst/>
          </a:prstGeom>
        </p:spPr>
      </p:pic>
      <p:sp>
        <p:nvSpPr>
          <p:cNvPr id="19" name="Rettangolo 18">
            <a:extLst>
              <a:ext uri="{FF2B5EF4-FFF2-40B4-BE49-F238E27FC236}">
                <a16:creationId xmlns:a16="http://schemas.microsoft.com/office/drawing/2014/main" id="{88CE724B-BAD9-306C-DA43-E28C26A4E6AB}"/>
              </a:ext>
            </a:extLst>
          </p:cNvPr>
          <p:cNvSpPr/>
          <p:nvPr/>
        </p:nvSpPr>
        <p:spPr>
          <a:xfrm>
            <a:off x="6582602" y="2492421"/>
            <a:ext cx="2514803" cy="136123"/>
          </a:xfrm>
          <a:prstGeom prst="rect">
            <a:avLst/>
          </a:prstGeom>
          <a:solidFill>
            <a:schemeClr val="bg2">
              <a:lumMod val="75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ttangolo 21">
            <a:extLst>
              <a:ext uri="{FF2B5EF4-FFF2-40B4-BE49-F238E27FC236}">
                <a16:creationId xmlns:a16="http://schemas.microsoft.com/office/drawing/2014/main" id="{64BDD8B6-3C25-E54F-4D08-B83FA9D19A26}"/>
              </a:ext>
            </a:extLst>
          </p:cNvPr>
          <p:cNvSpPr/>
          <p:nvPr/>
        </p:nvSpPr>
        <p:spPr>
          <a:xfrm>
            <a:off x="3136223" y="2492421"/>
            <a:ext cx="2469462" cy="136123"/>
          </a:xfrm>
          <a:prstGeom prst="rect">
            <a:avLst/>
          </a:prstGeom>
          <a:solidFill>
            <a:schemeClr val="bg2">
              <a:lumMod val="75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6" name="Immagine 15" descr="The image depicts a simple, cylindrical water tank with a metal frame, typically used for storage or heating purposes.&#10;&#10;Il contenuto generato dall'IA potrebbe non essere corretto.">
            <a:extLst>
              <a:ext uri="{FF2B5EF4-FFF2-40B4-BE49-F238E27FC236}">
                <a16:creationId xmlns:a16="http://schemas.microsoft.com/office/drawing/2014/main" id="{6B3E8379-650F-C4FC-0AFA-2B5515F2F5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7259" y="2118181"/>
            <a:ext cx="1862756" cy="1168879"/>
          </a:xfrm>
          <a:prstGeom prst="rect">
            <a:avLst/>
          </a:prstGeom>
        </p:spPr>
      </p:pic>
      <p:pic>
        <p:nvPicPr>
          <p:cNvPr id="18" name="Immagine 17" descr="An isolated, red, circular, metallic fire hydrant with a prominent, circular, black, eye-like closure.&#10;&#10;Il contenuto generato dall'IA potrebbe non essere corretto.">
            <a:extLst>
              <a:ext uri="{FF2B5EF4-FFF2-40B4-BE49-F238E27FC236}">
                <a16:creationId xmlns:a16="http://schemas.microsoft.com/office/drawing/2014/main" id="{FBE04A7C-A6E7-8248-405D-DD911C1E0F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5706115" y="2025080"/>
            <a:ext cx="779767" cy="1070806"/>
          </a:xfrm>
          <a:prstGeom prst="rect">
            <a:avLst/>
          </a:prstGeom>
        </p:spPr>
      </p:pic>
      <p:pic>
        <p:nvPicPr>
          <p:cNvPr id="25" name="Immagine 24" descr="The image depicts a simple, minimalist representation of a warehouse structure, characterized by its rectangular shape and a flat, triangular roof.&#10;&#10;Il contenuto generato dall'IA potrebbe non essere corretto.">
            <a:extLst>
              <a:ext uri="{FF2B5EF4-FFF2-40B4-BE49-F238E27FC236}">
                <a16:creationId xmlns:a16="http://schemas.microsoft.com/office/drawing/2014/main" id="{F1457917-B5C2-D507-9ACD-A19EF8E75F5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48729" y="4070640"/>
            <a:ext cx="1295448" cy="1295448"/>
          </a:xfrm>
          <a:prstGeom prst="rect">
            <a:avLst/>
          </a:prstGeom>
        </p:spPr>
      </p:pic>
      <p:pic>
        <p:nvPicPr>
          <p:cNvPr id="29" name="Immagine 28" descr="The image shows a pair of intricate robotic arm mechanisms, each with multiple joints and mechanical links, positioned against a white background.&#10;&#10;Il contenuto generato dall'IA potrebbe non essere corretto.">
            <a:extLst>
              <a:ext uri="{FF2B5EF4-FFF2-40B4-BE49-F238E27FC236}">
                <a16:creationId xmlns:a16="http://schemas.microsoft.com/office/drawing/2014/main" id="{63315B76-6FB4-9A8F-7074-BD0C6F1CCFE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1170685" y="3598204"/>
            <a:ext cx="2469462" cy="1646308"/>
          </a:xfrm>
          <a:prstGeom prst="rect">
            <a:avLst/>
          </a:prstGeom>
        </p:spPr>
      </p:pic>
      <p:sp>
        <p:nvSpPr>
          <p:cNvPr id="30" name="CasellaDiTesto 29">
            <a:extLst>
              <a:ext uri="{FF2B5EF4-FFF2-40B4-BE49-F238E27FC236}">
                <a16:creationId xmlns:a16="http://schemas.microsoft.com/office/drawing/2014/main" id="{316D63C4-6B96-2589-3F6A-7FA2C0EF66CA}"/>
              </a:ext>
            </a:extLst>
          </p:cNvPr>
          <p:cNvSpPr txBox="1"/>
          <p:nvPr/>
        </p:nvSpPr>
        <p:spPr>
          <a:xfrm>
            <a:off x="6086483" y="1890145"/>
            <a:ext cx="731290" cy="369332"/>
          </a:xfrm>
          <a:prstGeom prst="rect">
            <a:avLst/>
          </a:prstGeom>
          <a:noFill/>
        </p:spPr>
        <p:txBody>
          <a:bodyPr wrap="none" rtlCol="0">
            <a:spAutoFit/>
          </a:bodyPr>
          <a:lstStyle/>
          <a:p>
            <a:r>
              <a:rPr lang="en-US" noProof="0" dirty="0">
                <a:solidFill>
                  <a:srgbClr val="FF0000"/>
                </a:solidFill>
              </a:rPr>
              <a:t>Open</a:t>
            </a:r>
          </a:p>
        </p:txBody>
      </p:sp>
      <p:pic>
        <p:nvPicPr>
          <p:cNvPr id="32" name="Immagine 31" descr="The image depicts a geometric circle with a central dot and four radiating lines, symbolizing a wireless signal or network node.&#10;&#10;Il contenuto generato dall'IA potrebbe non essere corretto.">
            <a:extLst>
              <a:ext uri="{FF2B5EF4-FFF2-40B4-BE49-F238E27FC236}">
                <a16:creationId xmlns:a16="http://schemas.microsoft.com/office/drawing/2014/main" id="{2B5C507C-B980-91C6-75DD-E17CD0FA926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79540" y="2147415"/>
            <a:ext cx="1342652" cy="895101"/>
          </a:xfrm>
          <a:prstGeom prst="rect">
            <a:avLst/>
          </a:prstGeom>
        </p:spPr>
      </p:pic>
      <p:pic>
        <p:nvPicPr>
          <p:cNvPr id="34" name="Immagine 33" descr="The image depicts a minimalistic, black silhouette of a speaker with a central circular dot, symbolizing sound waves emanating from it.&#10;&#10;Il contenuto generato dall'IA potrebbe non essere corretto.">
            <a:extLst>
              <a:ext uri="{FF2B5EF4-FFF2-40B4-BE49-F238E27FC236}">
                <a16:creationId xmlns:a16="http://schemas.microsoft.com/office/drawing/2014/main" id="{2E2F9F42-06F0-8103-F91D-F6D76F06FAC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22017" y="2052587"/>
            <a:ext cx="1200452" cy="800301"/>
          </a:xfrm>
          <a:prstGeom prst="rect">
            <a:avLst/>
          </a:prstGeom>
        </p:spPr>
      </p:pic>
      <p:sp>
        <p:nvSpPr>
          <p:cNvPr id="3" name="CasellaDiTesto 2">
            <a:extLst>
              <a:ext uri="{FF2B5EF4-FFF2-40B4-BE49-F238E27FC236}">
                <a16:creationId xmlns:a16="http://schemas.microsoft.com/office/drawing/2014/main" id="{3224CD73-9256-4ED2-2217-9325FA9963CE}"/>
              </a:ext>
            </a:extLst>
          </p:cNvPr>
          <p:cNvSpPr txBox="1"/>
          <p:nvPr/>
        </p:nvSpPr>
        <p:spPr>
          <a:xfrm>
            <a:off x="4792731" y="335710"/>
            <a:ext cx="2587504" cy="584775"/>
          </a:xfrm>
          <a:prstGeom prst="rect">
            <a:avLst/>
          </a:prstGeom>
          <a:noFill/>
        </p:spPr>
        <p:txBody>
          <a:bodyPr wrap="none" rtlCol="0">
            <a:spAutoFit/>
          </a:bodyPr>
          <a:lstStyle/>
          <a:p>
            <a:pPr algn="ctr"/>
            <a:r>
              <a:rPr lang="en-US" sz="3200" noProof="0" dirty="0">
                <a:solidFill>
                  <a:srgbClr val="FFFF00"/>
                </a:solidFill>
              </a:rPr>
              <a:t>Problem 1 Q1</a:t>
            </a:r>
          </a:p>
        </p:txBody>
      </p:sp>
    </p:spTree>
    <p:extLst>
      <p:ext uri="{BB962C8B-B14F-4D97-AF65-F5344CB8AC3E}">
        <p14:creationId xmlns:p14="http://schemas.microsoft.com/office/powerpoint/2010/main" val="2105557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504C76-3C0C-89B1-828F-B3A035835EA2}"/>
              </a:ext>
            </a:extLst>
          </p:cNvPr>
          <p:cNvSpPr>
            <a:spLocks noGrp="1"/>
          </p:cNvSpPr>
          <p:nvPr>
            <p:ph type="title"/>
          </p:nvPr>
        </p:nvSpPr>
        <p:spPr/>
        <p:txBody>
          <a:bodyPr/>
          <a:lstStyle/>
          <a:p>
            <a:r>
              <a:rPr lang="en-US" noProof="0" dirty="0"/>
              <a:t>Plan for problem 1*</a:t>
            </a:r>
          </a:p>
        </p:txBody>
      </p:sp>
      <p:sp>
        <p:nvSpPr>
          <p:cNvPr id="3" name="Segnaposto contenuto 2">
            <a:extLst>
              <a:ext uri="{FF2B5EF4-FFF2-40B4-BE49-F238E27FC236}">
                <a16:creationId xmlns:a16="http://schemas.microsoft.com/office/drawing/2014/main" id="{23A56A2F-67AA-DEA9-97B1-370CCD4F796E}"/>
              </a:ext>
            </a:extLst>
          </p:cNvPr>
          <p:cNvSpPr>
            <a:spLocks noGrp="1"/>
          </p:cNvSpPr>
          <p:nvPr>
            <p:ph idx="1"/>
          </p:nvPr>
        </p:nvSpPr>
        <p:spPr/>
        <p:txBody>
          <a:bodyPr/>
          <a:lstStyle/>
          <a:p>
            <a:r>
              <a:rPr lang="en-US" sz="1800" noProof="0" dirty="0"/>
              <a:t>Do all the diagnostic actions</a:t>
            </a:r>
          </a:p>
          <a:p>
            <a:r>
              <a:rPr lang="en-US" sz="1800" noProof="0" dirty="0"/>
              <a:t>Move to Loc3</a:t>
            </a:r>
          </a:p>
          <a:p>
            <a:r>
              <a:rPr lang="en-US" sz="1800" noProof="0" dirty="0"/>
              <a:t>Take the spare sensor and put it in the toolbox</a:t>
            </a:r>
          </a:p>
          <a:p>
            <a:r>
              <a:rPr lang="en-US" sz="1800" noProof="0" dirty="0"/>
              <a:t>Move to Loc2 and close the valve to secure the </a:t>
            </a:r>
            <a:r>
              <a:rPr lang="en-US" sz="1800" b="0" i="0" noProof="0" dirty="0">
                <a:solidFill>
                  <a:srgbClr val="000000"/>
                </a:solidFill>
                <a:effectLst/>
              </a:rPr>
              <a:t>environment</a:t>
            </a:r>
          </a:p>
          <a:p>
            <a:r>
              <a:rPr lang="en-US" sz="1800" noProof="0" dirty="0">
                <a:solidFill>
                  <a:srgbClr val="000000"/>
                </a:solidFill>
              </a:rPr>
              <a:t>Go to Loc1 and replace the sensor</a:t>
            </a:r>
          </a:p>
          <a:p>
            <a:r>
              <a:rPr lang="en-US" sz="1800" b="0" i="0" noProof="0" dirty="0">
                <a:solidFill>
                  <a:srgbClr val="000000"/>
                </a:solidFill>
                <a:effectLst/>
              </a:rPr>
              <a:t>Go to Loc2 and open the valve again</a:t>
            </a:r>
          </a:p>
          <a:p>
            <a:r>
              <a:rPr lang="en-US" sz="1800" noProof="0" dirty="0">
                <a:solidFill>
                  <a:srgbClr val="000000"/>
                </a:solidFill>
              </a:rPr>
              <a:t>Verify if everything works properly</a:t>
            </a:r>
          </a:p>
          <a:p>
            <a:r>
              <a:rPr lang="en-US" sz="1800" b="0" i="0" noProof="0" dirty="0">
                <a:solidFill>
                  <a:srgbClr val="000000"/>
                </a:solidFill>
                <a:effectLst/>
              </a:rPr>
              <a:t>Go to Loc3 and leave the broken sensor in the warehouse</a:t>
            </a:r>
          </a:p>
          <a:p>
            <a:endParaRPr lang="en-US" sz="1800" noProof="0" dirty="0">
              <a:solidFill>
                <a:srgbClr val="000000"/>
              </a:solidFill>
            </a:endParaRPr>
          </a:p>
          <a:p>
            <a:pPr marL="0" indent="0">
              <a:buNone/>
            </a:pPr>
            <a:r>
              <a:rPr lang="en-US" sz="1800" b="0" i="0" noProof="0" dirty="0">
                <a:solidFill>
                  <a:srgbClr val="000000"/>
                </a:solidFill>
                <a:effectLst/>
              </a:rPr>
              <a:t>Total steps: 27</a:t>
            </a:r>
          </a:p>
          <a:p>
            <a:endParaRPr lang="en-US" sz="1800" noProof="0" dirty="0"/>
          </a:p>
          <a:p>
            <a:endParaRPr lang="en-US" noProof="0" dirty="0"/>
          </a:p>
        </p:txBody>
      </p:sp>
      <p:sp>
        <p:nvSpPr>
          <p:cNvPr id="4" name="CasellaDiTesto 3">
            <a:extLst>
              <a:ext uri="{FF2B5EF4-FFF2-40B4-BE49-F238E27FC236}">
                <a16:creationId xmlns:a16="http://schemas.microsoft.com/office/drawing/2014/main" id="{EB636F5C-C1D6-3003-5993-925778815AEB}"/>
              </a:ext>
            </a:extLst>
          </p:cNvPr>
          <p:cNvSpPr txBox="1"/>
          <p:nvPr/>
        </p:nvSpPr>
        <p:spPr>
          <a:xfrm>
            <a:off x="6837615" y="6371679"/>
            <a:ext cx="5320816" cy="369332"/>
          </a:xfrm>
          <a:prstGeom prst="rect">
            <a:avLst/>
          </a:prstGeom>
          <a:noFill/>
        </p:spPr>
        <p:txBody>
          <a:bodyPr wrap="none" rtlCol="0">
            <a:spAutoFit/>
          </a:bodyPr>
          <a:lstStyle/>
          <a:p>
            <a:r>
              <a:rPr lang="en-US" noProof="0" dirty="0"/>
              <a:t>*:Some simplification has been made for readability</a:t>
            </a:r>
          </a:p>
        </p:txBody>
      </p:sp>
    </p:spTree>
    <p:extLst>
      <p:ext uri="{BB962C8B-B14F-4D97-AF65-F5344CB8AC3E}">
        <p14:creationId xmlns:p14="http://schemas.microsoft.com/office/powerpoint/2010/main" val="847301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2B0506-EB79-9331-F980-E8BCEC08CBB1}"/>
            </a:ext>
          </a:extLst>
        </p:cNvPr>
        <p:cNvGrpSpPr/>
        <p:nvPr/>
      </p:nvGrpSpPr>
      <p:grpSpPr>
        <a:xfrm>
          <a:off x="0" y="0"/>
          <a:ext cx="0" cy="0"/>
          <a:chOff x="0" y="0"/>
          <a:chExt cx="0" cy="0"/>
        </a:xfrm>
      </p:grpSpPr>
      <p:pic>
        <p:nvPicPr>
          <p:cNvPr id="4" name="Segnaposto contenuto 3" descr="Pin on Mobile wallpaper">
            <a:extLst>
              <a:ext uri="{FF2B5EF4-FFF2-40B4-BE49-F238E27FC236}">
                <a16:creationId xmlns:a16="http://schemas.microsoft.com/office/drawing/2014/main" id="{F3569AB9-B13E-5986-D2AF-61EC413DA020}"/>
              </a:ext>
            </a:extLst>
          </p:cNvPr>
          <p:cNvPicPr>
            <a:picLocks noGrp="1" noChangeAspect="1"/>
          </p:cNvPicPr>
          <p:nvPr>
            <p:ph idx="1"/>
          </p:nvPr>
        </p:nvPicPr>
        <p:blipFill>
          <a:blip r:embed="rId2"/>
          <a:srcRect b="19"/>
          <a:stretch>
            <a:fillRect/>
          </a:stretch>
        </p:blipFill>
        <p:spPr>
          <a:xfrm>
            <a:off x="20" y="1282"/>
            <a:ext cx="12191980" cy="6856718"/>
          </a:xfrm>
          <a:prstGeom prst="rect">
            <a:avLst/>
          </a:prstGeom>
        </p:spPr>
      </p:pic>
      <p:sp>
        <p:nvSpPr>
          <p:cNvPr id="15" name="Rettangolo con angoli arrotondati 14">
            <a:extLst>
              <a:ext uri="{FF2B5EF4-FFF2-40B4-BE49-F238E27FC236}">
                <a16:creationId xmlns:a16="http://schemas.microsoft.com/office/drawing/2014/main" id="{C973CAF4-1F31-9298-9389-A7150319EAF4}"/>
              </a:ext>
            </a:extLst>
          </p:cNvPr>
          <p:cNvSpPr/>
          <p:nvPr/>
        </p:nvSpPr>
        <p:spPr>
          <a:xfrm>
            <a:off x="8429750" y="1283385"/>
            <a:ext cx="2713665" cy="45733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ttangolo con angoli arrotondati 13">
            <a:extLst>
              <a:ext uri="{FF2B5EF4-FFF2-40B4-BE49-F238E27FC236}">
                <a16:creationId xmlns:a16="http://schemas.microsoft.com/office/drawing/2014/main" id="{421556AB-095D-4F34-AE88-9A31AA21EE6B}"/>
              </a:ext>
            </a:extLst>
          </p:cNvPr>
          <p:cNvSpPr/>
          <p:nvPr/>
        </p:nvSpPr>
        <p:spPr>
          <a:xfrm>
            <a:off x="4739167" y="1283384"/>
            <a:ext cx="2713665" cy="45733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7061BBAA-3718-B5F0-1A16-07692DC92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dirty="0"/>
          </a:p>
        </p:txBody>
      </p:sp>
      <p:sp>
        <p:nvSpPr>
          <p:cNvPr id="5" name="Rettangolo con angoli arrotondati 4">
            <a:extLst>
              <a:ext uri="{FF2B5EF4-FFF2-40B4-BE49-F238E27FC236}">
                <a16:creationId xmlns:a16="http://schemas.microsoft.com/office/drawing/2014/main" id="{CF18CCB2-C4D6-AE2B-EC74-349235C7DDCF}"/>
              </a:ext>
            </a:extLst>
          </p:cNvPr>
          <p:cNvSpPr/>
          <p:nvPr/>
        </p:nvSpPr>
        <p:spPr>
          <a:xfrm>
            <a:off x="1048584" y="1283384"/>
            <a:ext cx="2713665" cy="45733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CasellaDiTesto 7">
            <a:extLst>
              <a:ext uri="{FF2B5EF4-FFF2-40B4-BE49-F238E27FC236}">
                <a16:creationId xmlns:a16="http://schemas.microsoft.com/office/drawing/2014/main" id="{292E81F5-A2E8-3B43-010C-B7E8BEC73B37}"/>
              </a:ext>
            </a:extLst>
          </p:cNvPr>
          <p:cNvSpPr txBox="1"/>
          <p:nvPr/>
        </p:nvSpPr>
        <p:spPr>
          <a:xfrm>
            <a:off x="2069140" y="1396409"/>
            <a:ext cx="672556" cy="369332"/>
          </a:xfrm>
          <a:prstGeom prst="rect">
            <a:avLst/>
          </a:prstGeom>
          <a:noFill/>
        </p:spPr>
        <p:txBody>
          <a:bodyPr wrap="none" rtlCol="0">
            <a:spAutoFit/>
          </a:bodyPr>
          <a:lstStyle/>
          <a:p>
            <a:r>
              <a:rPr lang="en-US" noProof="0" dirty="0">
                <a:highlight>
                  <a:srgbClr val="FFFF00"/>
                </a:highlight>
              </a:rPr>
              <a:t>Loc1</a:t>
            </a:r>
          </a:p>
        </p:txBody>
      </p:sp>
      <p:sp>
        <p:nvSpPr>
          <p:cNvPr id="10" name="CasellaDiTesto 9">
            <a:extLst>
              <a:ext uri="{FF2B5EF4-FFF2-40B4-BE49-F238E27FC236}">
                <a16:creationId xmlns:a16="http://schemas.microsoft.com/office/drawing/2014/main" id="{F403BE20-6941-C980-62FC-84809F7DC31B}"/>
              </a:ext>
            </a:extLst>
          </p:cNvPr>
          <p:cNvSpPr txBox="1"/>
          <p:nvPr/>
        </p:nvSpPr>
        <p:spPr>
          <a:xfrm>
            <a:off x="5750205" y="1396409"/>
            <a:ext cx="672556" cy="369332"/>
          </a:xfrm>
          <a:prstGeom prst="rect">
            <a:avLst/>
          </a:prstGeom>
          <a:noFill/>
        </p:spPr>
        <p:txBody>
          <a:bodyPr wrap="none" rtlCol="0">
            <a:spAutoFit/>
          </a:bodyPr>
          <a:lstStyle/>
          <a:p>
            <a:r>
              <a:rPr lang="en-US" noProof="0" dirty="0">
                <a:highlight>
                  <a:srgbClr val="FFFF00"/>
                </a:highlight>
              </a:rPr>
              <a:t>Loc2</a:t>
            </a:r>
          </a:p>
        </p:txBody>
      </p:sp>
      <p:sp>
        <p:nvSpPr>
          <p:cNvPr id="11" name="CasellaDiTesto 10">
            <a:extLst>
              <a:ext uri="{FF2B5EF4-FFF2-40B4-BE49-F238E27FC236}">
                <a16:creationId xmlns:a16="http://schemas.microsoft.com/office/drawing/2014/main" id="{B624AD5E-41AE-F57A-28FF-699A738156AA}"/>
              </a:ext>
            </a:extLst>
          </p:cNvPr>
          <p:cNvSpPr txBox="1"/>
          <p:nvPr/>
        </p:nvSpPr>
        <p:spPr>
          <a:xfrm>
            <a:off x="9450304" y="1396409"/>
            <a:ext cx="672556" cy="369332"/>
          </a:xfrm>
          <a:prstGeom prst="rect">
            <a:avLst/>
          </a:prstGeom>
          <a:noFill/>
        </p:spPr>
        <p:txBody>
          <a:bodyPr wrap="none" rtlCol="0">
            <a:spAutoFit/>
          </a:bodyPr>
          <a:lstStyle/>
          <a:p>
            <a:r>
              <a:rPr lang="en-US" noProof="0" dirty="0">
                <a:highlight>
                  <a:srgbClr val="FFFF00"/>
                </a:highlight>
              </a:rPr>
              <a:t>Loc3</a:t>
            </a:r>
          </a:p>
        </p:txBody>
      </p:sp>
      <p:pic>
        <p:nvPicPr>
          <p:cNvPr id="13" name="Immagine 12" descr="The image depicts a simple, cylindrical water tank with a metal frame, typically used for storage or heating purposes.&#10;&#10;Il contenuto generato dall'IA potrebbe non essere corretto.">
            <a:extLst>
              <a:ext uri="{FF2B5EF4-FFF2-40B4-BE49-F238E27FC236}">
                <a16:creationId xmlns:a16="http://schemas.microsoft.com/office/drawing/2014/main" id="{37F58CCF-2628-160F-6708-975CC36F6D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4342" y="1751344"/>
            <a:ext cx="1862756" cy="1168879"/>
          </a:xfrm>
          <a:prstGeom prst="rect">
            <a:avLst/>
          </a:prstGeom>
        </p:spPr>
      </p:pic>
      <p:sp>
        <p:nvSpPr>
          <p:cNvPr id="19" name="Rettangolo 18">
            <a:extLst>
              <a:ext uri="{FF2B5EF4-FFF2-40B4-BE49-F238E27FC236}">
                <a16:creationId xmlns:a16="http://schemas.microsoft.com/office/drawing/2014/main" id="{EA65D266-4548-76CC-E0C1-C9E32B6E5B97}"/>
              </a:ext>
            </a:extLst>
          </p:cNvPr>
          <p:cNvSpPr/>
          <p:nvPr/>
        </p:nvSpPr>
        <p:spPr>
          <a:xfrm>
            <a:off x="6582905" y="2267723"/>
            <a:ext cx="2514803" cy="136123"/>
          </a:xfrm>
          <a:prstGeom prst="rect">
            <a:avLst/>
          </a:prstGeom>
          <a:solidFill>
            <a:schemeClr val="bg2">
              <a:lumMod val="75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ttangolo 21">
            <a:extLst>
              <a:ext uri="{FF2B5EF4-FFF2-40B4-BE49-F238E27FC236}">
                <a16:creationId xmlns:a16="http://schemas.microsoft.com/office/drawing/2014/main" id="{E953CF09-19C2-4FA1-0822-05939E481A95}"/>
              </a:ext>
            </a:extLst>
          </p:cNvPr>
          <p:cNvSpPr/>
          <p:nvPr/>
        </p:nvSpPr>
        <p:spPr>
          <a:xfrm>
            <a:off x="3136526" y="2267723"/>
            <a:ext cx="2469462" cy="136123"/>
          </a:xfrm>
          <a:prstGeom prst="rect">
            <a:avLst/>
          </a:prstGeom>
          <a:solidFill>
            <a:schemeClr val="bg2">
              <a:lumMod val="75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6" name="Immagine 15" descr="The image depicts a simple, cylindrical water tank with a metal frame, typically used for storage or heating purposes.&#10;&#10;Il contenuto generato dall'IA potrebbe non essere corretto.">
            <a:extLst>
              <a:ext uri="{FF2B5EF4-FFF2-40B4-BE49-F238E27FC236}">
                <a16:creationId xmlns:a16="http://schemas.microsoft.com/office/drawing/2014/main" id="{FDD8F569-11F9-8485-56A4-FDDBAACABD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7562" y="1893483"/>
            <a:ext cx="1862756" cy="1168879"/>
          </a:xfrm>
          <a:prstGeom prst="rect">
            <a:avLst/>
          </a:prstGeom>
        </p:spPr>
      </p:pic>
      <p:pic>
        <p:nvPicPr>
          <p:cNvPr id="18" name="Immagine 17" descr="An isolated, red, circular, metallic fire hydrant with a prominent, circular, black, eye-like closure.&#10;&#10;Il contenuto generato dall'IA potrebbe non essere corretto.">
            <a:extLst>
              <a:ext uri="{FF2B5EF4-FFF2-40B4-BE49-F238E27FC236}">
                <a16:creationId xmlns:a16="http://schemas.microsoft.com/office/drawing/2014/main" id="{0D696F88-963D-F892-506D-659F7F1C77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5706418" y="1800382"/>
            <a:ext cx="779767" cy="1070806"/>
          </a:xfrm>
          <a:prstGeom prst="rect">
            <a:avLst/>
          </a:prstGeom>
        </p:spPr>
      </p:pic>
      <p:pic>
        <p:nvPicPr>
          <p:cNvPr id="25" name="Immagine 24" descr="The image depicts a simple, minimalist representation of a warehouse structure, characterized by its rectangular shape and a flat, triangular roof.&#10;&#10;Il contenuto generato dall'IA potrebbe non essere corretto.">
            <a:extLst>
              <a:ext uri="{FF2B5EF4-FFF2-40B4-BE49-F238E27FC236}">
                <a16:creationId xmlns:a16="http://schemas.microsoft.com/office/drawing/2014/main" id="{88004012-5B77-5FE1-B51A-55A0F18372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48729" y="4398855"/>
            <a:ext cx="1295448" cy="1295448"/>
          </a:xfrm>
          <a:prstGeom prst="rect">
            <a:avLst/>
          </a:prstGeom>
        </p:spPr>
      </p:pic>
      <p:pic>
        <p:nvPicPr>
          <p:cNvPr id="29" name="Immagine 28" descr="The image shows a pair of intricate robotic arm mechanisms, each with multiple joints and mechanical links, positioned against a white background.&#10;&#10;Il contenuto generato dall'IA potrebbe non essere corretto.">
            <a:extLst>
              <a:ext uri="{FF2B5EF4-FFF2-40B4-BE49-F238E27FC236}">
                <a16:creationId xmlns:a16="http://schemas.microsoft.com/office/drawing/2014/main" id="{B9F63E16-50AC-9EB5-5E2B-CE16C7038B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a:off x="1491263" y="4473644"/>
            <a:ext cx="1862757" cy="1241838"/>
          </a:xfrm>
          <a:prstGeom prst="rect">
            <a:avLst/>
          </a:prstGeom>
        </p:spPr>
      </p:pic>
      <p:sp>
        <p:nvSpPr>
          <p:cNvPr id="30" name="CasellaDiTesto 29">
            <a:extLst>
              <a:ext uri="{FF2B5EF4-FFF2-40B4-BE49-F238E27FC236}">
                <a16:creationId xmlns:a16="http://schemas.microsoft.com/office/drawing/2014/main" id="{1B23B2C1-D33C-441C-C20B-5ECE88C2E39B}"/>
              </a:ext>
            </a:extLst>
          </p:cNvPr>
          <p:cNvSpPr txBox="1"/>
          <p:nvPr/>
        </p:nvSpPr>
        <p:spPr>
          <a:xfrm>
            <a:off x="6086786" y="1665447"/>
            <a:ext cx="731290" cy="369332"/>
          </a:xfrm>
          <a:prstGeom prst="rect">
            <a:avLst/>
          </a:prstGeom>
          <a:noFill/>
        </p:spPr>
        <p:txBody>
          <a:bodyPr wrap="none" rtlCol="0">
            <a:spAutoFit/>
          </a:bodyPr>
          <a:lstStyle/>
          <a:p>
            <a:r>
              <a:rPr lang="en-US" noProof="0" dirty="0">
                <a:solidFill>
                  <a:srgbClr val="FF0000"/>
                </a:solidFill>
              </a:rPr>
              <a:t>Open</a:t>
            </a:r>
          </a:p>
        </p:txBody>
      </p:sp>
      <p:pic>
        <p:nvPicPr>
          <p:cNvPr id="32" name="Immagine 31" descr="The image depicts a geometric circle with a central dot and four radiating lines, symbolizing a wireless signal or network node.&#10;&#10;Il contenuto generato dall'IA potrebbe non essere corretto.">
            <a:extLst>
              <a:ext uri="{FF2B5EF4-FFF2-40B4-BE49-F238E27FC236}">
                <a16:creationId xmlns:a16="http://schemas.microsoft.com/office/drawing/2014/main" id="{A828F9F1-B0D2-3FBD-52D9-28FFD7A264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079843" y="1922717"/>
            <a:ext cx="1342652" cy="895101"/>
          </a:xfrm>
          <a:prstGeom prst="rect">
            <a:avLst/>
          </a:prstGeom>
        </p:spPr>
      </p:pic>
      <p:pic>
        <p:nvPicPr>
          <p:cNvPr id="34" name="Immagine 33" descr="The image depicts a minimalistic, black silhouette of a speaker with a central circular dot, symbolizing sound waves emanating from it.&#10;&#10;Il contenuto generato dall'IA potrebbe non essere corretto.">
            <a:extLst>
              <a:ext uri="{FF2B5EF4-FFF2-40B4-BE49-F238E27FC236}">
                <a16:creationId xmlns:a16="http://schemas.microsoft.com/office/drawing/2014/main" id="{584F9882-7E9D-4834-7B7D-D183E052D23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22320" y="1827889"/>
            <a:ext cx="1200452" cy="800301"/>
          </a:xfrm>
          <a:prstGeom prst="rect">
            <a:avLst/>
          </a:prstGeom>
        </p:spPr>
      </p:pic>
      <p:pic>
        <p:nvPicPr>
          <p:cNvPr id="3" name="Immagine 2" descr="The image depicts a simple, cylindrical water tank with a metal frame, typically used for storage or heating purposes.&#10;&#10;Il contenuto generato dall'IA potrebbe non essere corretto.">
            <a:extLst>
              <a:ext uri="{FF2B5EF4-FFF2-40B4-BE49-F238E27FC236}">
                <a16:creationId xmlns:a16="http://schemas.microsoft.com/office/drawing/2014/main" id="{EC12131B-C9B9-38EB-5FE1-68046027C4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1682" y="3060632"/>
            <a:ext cx="1862756" cy="1168879"/>
          </a:xfrm>
          <a:prstGeom prst="rect">
            <a:avLst/>
          </a:prstGeom>
        </p:spPr>
      </p:pic>
      <p:sp>
        <p:nvSpPr>
          <p:cNvPr id="7" name="Rettangolo 6">
            <a:extLst>
              <a:ext uri="{FF2B5EF4-FFF2-40B4-BE49-F238E27FC236}">
                <a16:creationId xmlns:a16="http://schemas.microsoft.com/office/drawing/2014/main" id="{AFC2705D-6FEE-3FC6-DD90-1235D9B4A33B}"/>
              </a:ext>
            </a:extLst>
          </p:cNvPr>
          <p:cNvSpPr/>
          <p:nvPr/>
        </p:nvSpPr>
        <p:spPr>
          <a:xfrm>
            <a:off x="6580245" y="3577011"/>
            <a:ext cx="2514803" cy="136123"/>
          </a:xfrm>
          <a:prstGeom prst="rect">
            <a:avLst/>
          </a:prstGeom>
          <a:solidFill>
            <a:schemeClr val="bg2">
              <a:lumMod val="75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ttangolo 16">
            <a:extLst>
              <a:ext uri="{FF2B5EF4-FFF2-40B4-BE49-F238E27FC236}">
                <a16:creationId xmlns:a16="http://schemas.microsoft.com/office/drawing/2014/main" id="{B291E9C1-EC37-E12A-CAE2-4336522CE768}"/>
              </a:ext>
            </a:extLst>
          </p:cNvPr>
          <p:cNvSpPr/>
          <p:nvPr/>
        </p:nvSpPr>
        <p:spPr>
          <a:xfrm>
            <a:off x="3133866" y="3577011"/>
            <a:ext cx="2469462" cy="136123"/>
          </a:xfrm>
          <a:prstGeom prst="rect">
            <a:avLst/>
          </a:prstGeom>
          <a:solidFill>
            <a:schemeClr val="bg2">
              <a:lumMod val="75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1" name="Immagine 20" descr="The image depicts a simple, cylindrical water tank with a metal frame, typically used for storage or heating purposes.&#10;&#10;Il contenuto generato dall'IA potrebbe non essere corretto.">
            <a:extLst>
              <a:ext uri="{FF2B5EF4-FFF2-40B4-BE49-F238E27FC236}">
                <a16:creationId xmlns:a16="http://schemas.microsoft.com/office/drawing/2014/main" id="{1156BE04-AB8B-91F7-F644-7203433155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4902" y="3202771"/>
            <a:ext cx="1862756" cy="1168879"/>
          </a:xfrm>
          <a:prstGeom prst="rect">
            <a:avLst/>
          </a:prstGeom>
        </p:spPr>
      </p:pic>
      <p:pic>
        <p:nvPicPr>
          <p:cNvPr id="24" name="Immagine 23" descr="An isolated, red, circular, metallic fire hydrant with a prominent, circular, black, eye-like closure.&#10;&#10;Il contenuto generato dall'IA potrebbe non essere corretto.">
            <a:extLst>
              <a:ext uri="{FF2B5EF4-FFF2-40B4-BE49-F238E27FC236}">
                <a16:creationId xmlns:a16="http://schemas.microsoft.com/office/drawing/2014/main" id="{4A1D5081-76C1-EF45-D99E-24CF7C661B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5703758" y="3109670"/>
            <a:ext cx="779767" cy="1070806"/>
          </a:xfrm>
          <a:prstGeom prst="rect">
            <a:avLst/>
          </a:prstGeom>
        </p:spPr>
      </p:pic>
      <p:sp>
        <p:nvSpPr>
          <p:cNvPr id="27" name="CasellaDiTesto 26">
            <a:extLst>
              <a:ext uri="{FF2B5EF4-FFF2-40B4-BE49-F238E27FC236}">
                <a16:creationId xmlns:a16="http://schemas.microsoft.com/office/drawing/2014/main" id="{E06D896B-6D24-29C1-7C51-3BBAA7207C55}"/>
              </a:ext>
            </a:extLst>
          </p:cNvPr>
          <p:cNvSpPr txBox="1"/>
          <p:nvPr/>
        </p:nvSpPr>
        <p:spPr>
          <a:xfrm>
            <a:off x="6084126" y="2974735"/>
            <a:ext cx="894797" cy="369332"/>
          </a:xfrm>
          <a:prstGeom prst="rect">
            <a:avLst/>
          </a:prstGeom>
          <a:noFill/>
        </p:spPr>
        <p:txBody>
          <a:bodyPr wrap="none" rtlCol="0">
            <a:spAutoFit/>
          </a:bodyPr>
          <a:lstStyle/>
          <a:p>
            <a:r>
              <a:rPr lang="en-US" noProof="0" dirty="0">
                <a:solidFill>
                  <a:srgbClr val="FF0000"/>
                </a:solidFill>
              </a:rPr>
              <a:t>Closed</a:t>
            </a:r>
          </a:p>
        </p:txBody>
      </p:sp>
      <p:pic>
        <p:nvPicPr>
          <p:cNvPr id="37" name="Immagine 36" descr="The image depicts a minimalistic representation of a speaker with four concentric circles, symbolizing sound waves emanating from it.&#10;&#10;Il contenuto generato dall'IA potrebbe non essere corretto.">
            <a:extLst>
              <a:ext uri="{FF2B5EF4-FFF2-40B4-BE49-F238E27FC236}">
                <a16:creationId xmlns:a16="http://schemas.microsoft.com/office/drawing/2014/main" id="{2BDDE910-C822-7985-6CB3-293BA1C4C97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069490" y="3234164"/>
            <a:ext cx="1314889" cy="876592"/>
          </a:xfrm>
          <a:prstGeom prst="rect">
            <a:avLst/>
          </a:prstGeom>
        </p:spPr>
      </p:pic>
      <p:pic>
        <p:nvPicPr>
          <p:cNvPr id="39" name="Immagine 38" descr="The image depicts a minimalistic representation of a wireless speaker with an open sound wave emanating from its center.&#10;&#10;Il contenuto generato dall'IA potrebbe non essere corretto.">
            <a:extLst>
              <a:ext uri="{FF2B5EF4-FFF2-40B4-BE49-F238E27FC236}">
                <a16:creationId xmlns:a16="http://schemas.microsoft.com/office/drawing/2014/main" id="{E0E6C123-4E27-C889-B4C4-E9199CD73AE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22320" y="3111019"/>
            <a:ext cx="1295910" cy="863940"/>
          </a:xfrm>
          <a:prstGeom prst="rect">
            <a:avLst/>
          </a:prstGeom>
        </p:spPr>
      </p:pic>
      <p:sp>
        <p:nvSpPr>
          <p:cNvPr id="6" name="CasellaDiTesto 5">
            <a:extLst>
              <a:ext uri="{FF2B5EF4-FFF2-40B4-BE49-F238E27FC236}">
                <a16:creationId xmlns:a16="http://schemas.microsoft.com/office/drawing/2014/main" id="{BC17593D-B887-91B2-2F94-131164859A3D}"/>
              </a:ext>
            </a:extLst>
          </p:cNvPr>
          <p:cNvSpPr txBox="1"/>
          <p:nvPr/>
        </p:nvSpPr>
        <p:spPr>
          <a:xfrm>
            <a:off x="4790373" y="216851"/>
            <a:ext cx="2587504" cy="584775"/>
          </a:xfrm>
          <a:prstGeom prst="rect">
            <a:avLst/>
          </a:prstGeom>
          <a:noFill/>
        </p:spPr>
        <p:txBody>
          <a:bodyPr wrap="none" rtlCol="0">
            <a:spAutoFit/>
          </a:bodyPr>
          <a:lstStyle/>
          <a:p>
            <a:pPr algn="ctr"/>
            <a:r>
              <a:rPr lang="en-US" sz="3200" noProof="0" dirty="0">
                <a:solidFill>
                  <a:srgbClr val="FFFF00"/>
                </a:solidFill>
              </a:rPr>
              <a:t>Problem 2 Q1</a:t>
            </a:r>
          </a:p>
        </p:txBody>
      </p:sp>
    </p:spTree>
    <p:extLst>
      <p:ext uri="{BB962C8B-B14F-4D97-AF65-F5344CB8AC3E}">
        <p14:creationId xmlns:p14="http://schemas.microsoft.com/office/powerpoint/2010/main" val="2730295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A8BC054-3F83-CC87-FB9E-40F7829AA59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FF55996-0DFA-FA16-5F09-179604157446}"/>
              </a:ext>
            </a:extLst>
          </p:cNvPr>
          <p:cNvSpPr>
            <a:spLocks noGrp="1"/>
          </p:cNvSpPr>
          <p:nvPr>
            <p:ph type="title"/>
          </p:nvPr>
        </p:nvSpPr>
        <p:spPr/>
        <p:txBody>
          <a:bodyPr/>
          <a:lstStyle/>
          <a:p>
            <a:r>
              <a:rPr lang="en-US" noProof="0" dirty="0"/>
              <a:t>Plan for problem 2*</a:t>
            </a:r>
          </a:p>
        </p:txBody>
      </p:sp>
      <p:sp>
        <p:nvSpPr>
          <p:cNvPr id="3" name="Segnaposto contenuto 2">
            <a:extLst>
              <a:ext uri="{FF2B5EF4-FFF2-40B4-BE49-F238E27FC236}">
                <a16:creationId xmlns:a16="http://schemas.microsoft.com/office/drawing/2014/main" id="{7129E458-F385-24F7-119E-AFCD47F6589D}"/>
              </a:ext>
            </a:extLst>
          </p:cNvPr>
          <p:cNvSpPr>
            <a:spLocks noGrp="1"/>
          </p:cNvSpPr>
          <p:nvPr>
            <p:ph idx="1"/>
          </p:nvPr>
        </p:nvSpPr>
        <p:spPr/>
        <p:txBody>
          <a:bodyPr>
            <a:normAutofit lnSpcReduction="10000"/>
          </a:bodyPr>
          <a:lstStyle/>
          <a:p>
            <a:r>
              <a:rPr lang="en-US" sz="1800" noProof="0" dirty="0"/>
              <a:t>Do all the diagnostic actions</a:t>
            </a:r>
          </a:p>
          <a:p>
            <a:r>
              <a:rPr lang="en-US" sz="1800" noProof="0" dirty="0"/>
              <a:t>Move to Loc3</a:t>
            </a:r>
          </a:p>
          <a:p>
            <a:r>
              <a:rPr lang="en-US" sz="1800" noProof="0" dirty="0"/>
              <a:t>Take both the spare sensors and put them in the toolbox</a:t>
            </a:r>
          </a:p>
          <a:p>
            <a:r>
              <a:rPr lang="en-US" sz="1800" noProof="0" dirty="0"/>
              <a:t>Handle the first system as in problem 1.</a:t>
            </a:r>
            <a:endParaRPr lang="en-US" sz="1800" b="0" i="0" noProof="0" dirty="0">
              <a:solidFill>
                <a:srgbClr val="000000"/>
              </a:solidFill>
              <a:effectLst/>
            </a:endParaRPr>
          </a:p>
          <a:p>
            <a:r>
              <a:rPr lang="en-US" sz="1800" noProof="0" dirty="0">
                <a:solidFill>
                  <a:srgbClr val="000000"/>
                </a:solidFill>
              </a:rPr>
              <a:t>Go to Loc2 and take the adjustable wrench from the toolbox</a:t>
            </a:r>
          </a:p>
          <a:p>
            <a:r>
              <a:rPr lang="en-US" sz="1800" noProof="0" dirty="0">
                <a:solidFill>
                  <a:srgbClr val="000000"/>
                </a:solidFill>
              </a:rPr>
              <a:t>Change size of the tool to match the size of the valve</a:t>
            </a:r>
          </a:p>
          <a:p>
            <a:r>
              <a:rPr lang="en-US" sz="1800" noProof="0" dirty="0">
                <a:solidFill>
                  <a:srgbClr val="000000"/>
                </a:solidFill>
              </a:rPr>
              <a:t>Fix the valve leakage</a:t>
            </a:r>
          </a:p>
          <a:p>
            <a:r>
              <a:rPr lang="en-US" sz="1800" b="0" i="0" noProof="0" dirty="0">
                <a:solidFill>
                  <a:srgbClr val="000000"/>
                </a:solidFill>
                <a:effectLst/>
              </a:rPr>
              <a:t>Go to Loc1 and replace the broken sensor with the spare one</a:t>
            </a:r>
          </a:p>
          <a:p>
            <a:r>
              <a:rPr lang="en-US" sz="1800" noProof="0" dirty="0">
                <a:solidFill>
                  <a:srgbClr val="000000"/>
                </a:solidFill>
              </a:rPr>
              <a:t>Verify if everything works properly</a:t>
            </a:r>
          </a:p>
          <a:p>
            <a:r>
              <a:rPr lang="en-US" sz="1800" b="0" i="0" noProof="0" dirty="0">
                <a:solidFill>
                  <a:srgbClr val="000000"/>
                </a:solidFill>
                <a:effectLst/>
              </a:rPr>
              <a:t>Go to Loc3 and leave the broken sensors in the warehouse</a:t>
            </a:r>
          </a:p>
          <a:p>
            <a:endParaRPr lang="en-US" sz="1800" noProof="0" dirty="0">
              <a:solidFill>
                <a:srgbClr val="000000"/>
              </a:solidFill>
            </a:endParaRPr>
          </a:p>
          <a:p>
            <a:pPr marL="0" indent="0">
              <a:buNone/>
            </a:pPr>
            <a:r>
              <a:rPr lang="en-US" sz="1800" b="0" i="0" noProof="0" dirty="0">
                <a:solidFill>
                  <a:srgbClr val="000000"/>
                </a:solidFill>
                <a:effectLst/>
              </a:rPr>
              <a:t>Total steps: </a:t>
            </a:r>
            <a:r>
              <a:rPr lang="en-US" sz="1800" noProof="0" dirty="0">
                <a:solidFill>
                  <a:srgbClr val="000000"/>
                </a:solidFill>
              </a:rPr>
              <a:t>49</a:t>
            </a:r>
            <a:endParaRPr lang="en-US" sz="1800" b="0" i="0" noProof="0" dirty="0">
              <a:solidFill>
                <a:srgbClr val="000000"/>
              </a:solidFill>
              <a:effectLst/>
            </a:endParaRPr>
          </a:p>
          <a:p>
            <a:endParaRPr lang="en-US" sz="1800" noProof="0" dirty="0"/>
          </a:p>
          <a:p>
            <a:endParaRPr lang="en-US" noProof="0" dirty="0"/>
          </a:p>
        </p:txBody>
      </p:sp>
      <p:sp>
        <p:nvSpPr>
          <p:cNvPr id="4" name="CasellaDiTesto 3">
            <a:extLst>
              <a:ext uri="{FF2B5EF4-FFF2-40B4-BE49-F238E27FC236}">
                <a16:creationId xmlns:a16="http://schemas.microsoft.com/office/drawing/2014/main" id="{A63FBE1D-EBE2-993E-18E5-9466B0EA0F75}"/>
              </a:ext>
            </a:extLst>
          </p:cNvPr>
          <p:cNvSpPr txBox="1"/>
          <p:nvPr/>
        </p:nvSpPr>
        <p:spPr>
          <a:xfrm>
            <a:off x="6837615" y="6371679"/>
            <a:ext cx="5320816" cy="369332"/>
          </a:xfrm>
          <a:prstGeom prst="rect">
            <a:avLst/>
          </a:prstGeom>
          <a:noFill/>
        </p:spPr>
        <p:txBody>
          <a:bodyPr wrap="none" rtlCol="0">
            <a:spAutoFit/>
          </a:bodyPr>
          <a:lstStyle/>
          <a:p>
            <a:r>
              <a:rPr lang="en-US" noProof="0" dirty="0"/>
              <a:t>*:Some simplification has been made for readability</a:t>
            </a:r>
          </a:p>
        </p:txBody>
      </p:sp>
    </p:spTree>
    <p:extLst>
      <p:ext uri="{BB962C8B-B14F-4D97-AF65-F5344CB8AC3E}">
        <p14:creationId xmlns:p14="http://schemas.microsoft.com/office/powerpoint/2010/main" val="3522024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273D39-79E1-391C-3B21-F233B3ED13A5}"/>
              </a:ext>
            </a:extLst>
          </p:cNvPr>
          <p:cNvSpPr>
            <a:spLocks noGrp="1"/>
          </p:cNvSpPr>
          <p:nvPr>
            <p:ph type="title"/>
          </p:nvPr>
        </p:nvSpPr>
        <p:spPr/>
        <p:txBody>
          <a:bodyPr/>
          <a:lstStyle/>
          <a:p>
            <a:r>
              <a:rPr lang="en-US" noProof="0" dirty="0"/>
              <a:t>PDDL+</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4B6AB09E-25AF-72B1-6EBA-446F2BC34B29}"/>
                  </a:ext>
                </a:extLst>
              </p:cNvPr>
              <p:cNvSpPr>
                <a:spLocks noGrp="1"/>
              </p:cNvSpPr>
              <p:nvPr>
                <p:ph idx="1"/>
              </p:nvPr>
            </p:nvSpPr>
            <p:spPr/>
            <p:txBody>
              <a:bodyPr/>
              <a:lstStyle/>
              <a:p>
                <a:pPr marL="0" indent="0">
                  <a:buNone/>
                </a:pPr>
                <a:r>
                  <a:rPr lang="en-US" noProof="0" dirty="0"/>
                  <a:t>Process introduced:</a:t>
                </a:r>
              </a:p>
              <a:p>
                <a:r>
                  <a:rPr lang="en-US" noProof="0" dirty="0"/>
                  <a:t>Tank to tank flow:	 </a:t>
                </a:r>
                <a14:m>
                  <m:oMath xmlns:m="http://schemas.openxmlformats.org/officeDocument/2006/math">
                    <m:acc>
                      <m:accPr>
                        <m:chr m:val="̇"/>
                        <m:ctrlPr>
                          <a:rPr lang="en-US" i="1" noProof="0" smtClean="0">
                            <a:latin typeface="Cambria Math" panose="02040503050406030204" pitchFamily="18" charset="0"/>
                          </a:rPr>
                        </m:ctrlPr>
                      </m:accPr>
                      <m:e>
                        <m:r>
                          <a:rPr lang="en-US" i="1" noProof="0" smtClean="0">
                            <a:latin typeface="Cambria Math" panose="02040503050406030204" pitchFamily="18" charset="0"/>
                          </a:rPr>
                          <m:t>𝑚</m:t>
                        </m:r>
                      </m:e>
                    </m:acc>
                    <m:r>
                      <a:rPr lang="en-US" i="1" noProof="0" smtClean="0">
                        <a:latin typeface="Cambria Math" panose="02040503050406030204" pitchFamily="18" charset="0"/>
                      </a:rPr>
                      <m:t>=</m:t>
                    </m:r>
                    <m:r>
                      <a:rPr lang="en-US" i="1" noProof="0" smtClean="0">
                        <a:latin typeface="Cambria Math" panose="02040503050406030204" pitchFamily="18" charset="0"/>
                      </a:rPr>
                      <m:t>𝑘</m:t>
                    </m:r>
                    <m:r>
                      <a:rPr lang="en-US" i="1" noProof="0" smtClean="0">
                        <a:latin typeface="Cambria Math" panose="02040503050406030204" pitchFamily="18" charset="0"/>
                      </a:rPr>
                      <m:t>⋅</m:t>
                    </m:r>
                    <m:d>
                      <m:dPr>
                        <m:ctrlPr>
                          <a:rPr lang="en-US" i="1" noProof="0" smtClean="0">
                            <a:latin typeface="Cambria Math" panose="02040503050406030204" pitchFamily="18" charset="0"/>
                          </a:rPr>
                        </m:ctrlPr>
                      </m:dPr>
                      <m:e>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𝑃</m:t>
                            </m:r>
                          </m:e>
                          <m:sub>
                            <m:r>
                              <a:rPr lang="en-US" i="1" noProof="0" smtClean="0">
                                <a:latin typeface="Cambria Math" panose="02040503050406030204" pitchFamily="18" charset="0"/>
                              </a:rPr>
                              <m:t>𝑠𝑟𝑐</m:t>
                            </m:r>
                          </m:sub>
                        </m:sSub>
                        <m:r>
                          <a:rPr lang="en-US" i="1" noProof="0" smtClean="0">
                            <a:latin typeface="Cambria Math" panose="02040503050406030204" pitchFamily="18" charset="0"/>
                          </a:rPr>
                          <m:t>−</m:t>
                        </m:r>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𝑃</m:t>
                            </m:r>
                          </m:e>
                          <m:sub>
                            <m:r>
                              <a:rPr lang="en-US" i="1" noProof="0" smtClean="0">
                                <a:latin typeface="Cambria Math" panose="02040503050406030204" pitchFamily="18" charset="0"/>
                              </a:rPr>
                              <m:t>𝑑𝑒𝑠𝑡</m:t>
                            </m:r>
                          </m:sub>
                        </m:sSub>
                      </m:e>
                    </m:d>
                    <m:r>
                      <a:rPr lang="en-US" i="1" noProof="0" smtClean="0">
                        <a:latin typeface="Cambria Math" panose="02040503050406030204" pitchFamily="18" charset="0"/>
                      </a:rPr>
                      <m:t>⋅</m:t>
                    </m:r>
                    <m:r>
                      <a:rPr lang="en-US" i="1" noProof="0" smtClean="0">
                        <a:latin typeface="Cambria Math" panose="02040503050406030204" pitchFamily="18" charset="0"/>
                      </a:rPr>
                      <m:t>𝑜</m:t>
                    </m:r>
                  </m:oMath>
                </a14:m>
                <a:endParaRPr lang="en-US" noProof="0" dirty="0"/>
              </a:p>
              <a:p>
                <a:pPr marL="0" indent="0">
                  <a:buNone/>
                </a:pPr>
                <a:r>
                  <a:rPr lang="en-US" noProof="0" dirty="0"/>
                  <a:t>                                                   </a:t>
                </a:r>
                <a14:m>
                  <m:oMath xmlns:m="http://schemas.openxmlformats.org/officeDocument/2006/math">
                    <m:r>
                      <a:rPr lang="en-US" i="1" noProof="0" smtClean="0">
                        <a:latin typeface="Cambria Math" panose="02040503050406030204" pitchFamily="18" charset="0"/>
                      </a:rPr>
                      <m:t>𝑃𝑉</m:t>
                    </m:r>
                    <m:r>
                      <a:rPr lang="en-US" i="1" noProof="0" smtClean="0">
                        <a:latin typeface="Cambria Math" panose="02040503050406030204" pitchFamily="18" charset="0"/>
                      </a:rPr>
                      <m:t> = </m:t>
                    </m:r>
                    <m:r>
                      <a:rPr lang="en-US" i="1" noProof="0" smtClean="0">
                        <a:latin typeface="Cambria Math" panose="02040503050406030204" pitchFamily="18" charset="0"/>
                      </a:rPr>
                      <m:t>𝑚𝑅𝑇</m:t>
                    </m:r>
                  </m:oMath>
                </a14:m>
                <a:r>
                  <a:rPr lang="en-US" noProof="0" dirty="0"/>
                  <a:t> → </a:t>
                </a:r>
                <a14:m>
                  <m:oMath xmlns:m="http://schemas.openxmlformats.org/officeDocument/2006/math">
                    <m:acc>
                      <m:accPr>
                        <m:chr m:val="̇"/>
                        <m:ctrlPr>
                          <a:rPr lang="en-US" i="1" noProof="0" smtClean="0">
                            <a:latin typeface="Cambria Math" panose="02040503050406030204" pitchFamily="18" charset="0"/>
                          </a:rPr>
                        </m:ctrlPr>
                      </m:accPr>
                      <m:e>
                        <m:r>
                          <a:rPr lang="en-US" i="1" noProof="0" smtClean="0">
                            <a:latin typeface="Cambria Math" panose="02040503050406030204" pitchFamily="18" charset="0"/>
                          </a:rPr>
                          <m:t>𝑃</m:t>
                        </m:r>
                      </m:e>
                    </m:acc>
                    <m:r>
                      <a:rPr lang="en-US" i="1" noProof="0" smtClean="0">
                        <a:latin typeface="Cambria Math" panose="02040503050406030204" pitchFamily="18" charset="0"/>
                      </a:rPr>
                      <m:t>=</m:t>
                    </m:r>
                    <m:f>
                      <m:fPr>
                        <m:ctrlPr>
                          <a:rPr lang="en-US" i="1" noProof="0" smtClean="0">
                            <a:latin typeface="Cambria Math" panose="02040503050406030204" pitchFamily="18" charset="0"/>
                          </a:rPr>
                        </m:ctrlPr>
                      </m:fPr>
                      <m:num>
                        <m:r>
                          <a:rPr lang="en-US" i="1" noProof="0" smtClean="0">
                            <a:latin typeface="Cambria Math" panose="02040503050406030204" pitchFamily="18" charset="0"/>
                          </a:rPr>
                          <m:t>𝑅𝑇</m:t>
                        </m:r>
                      </m:num>
                      <m:den>
                        <m:r>
                          <a:rPr lang="en-US" i="1" noProof="0" smtClean="0">
                            <a:latin typeface="Cambria Math" panose="02040503050406030204" pitchFamily="18" charset="0"/>
                          </a:rPr>
                          <m:t>𝑉</m:t>
                        </m:r>
                      </m:den>
                    </m:f>
                    <m:acc>
                      <m:accPr>
                        <m:chr m:val="̇"/>
                        <m:ctrlPr>
                          <a:rPr lang="en-US" i="1" noProof="0" smtClean="0">
                            <a:latin typeface="Cambria Math" panose="02040503050406030204" pitchFamily="18" charset="0"/>
                          </a:rPr>
                        </m:ctrlPr>
                      </m:accPr>
                      <m:e>
                        <m:r>
                          <a:rPr lang="en-US" i="1" noProof="0" smtClean="0">
                            <a:latin typeface="Cambria Math" panose="02040503050406030204" pitchFamily="18" charset="0"/>
                          </a:rPr>
                          <m:t>𝑚</m:t>
                        </m:r>
                      </m:e>
                    </m:acc>
                  </m:oMath>
                </a14:m>
                <a:r>
                  <a:rPr lang="en-US" noProof="0" dirty="0"/>
                  <a:t> </a:t>
                </a:r>
              </a:p>
              <a:p>
                <a:r>
                  <a:rPr lang="en-US" noProof="0" dirty="0"/>
                  <a:t>Robot moving:         </a:t>
                </a:r>
                <a14:m>
                  <m:oMath xmlns:m="http://schemas.openxmlformats.org/officeDocument/2006/math">
                    <m:r>
                      <a:rPr lang="en-US" i="1" noProof="0" smtClean="0">
                        <a:latin typeface="Cambria Math" panose="02040503050406030204" pitchFamily="18" charset="0"/>
                      </a:rPr>
                      <m:t>𝑡</m:t>
                    </m:r>
                    <m:r>
                      <a:rPr lang="en-US" i="1" noProof="0" smtClean="0">
                        <a:latin typeface="Cambria Math" panose="02040503050406030204" pitchFamily="18" charset="0"/>
                      </a:rPr>
                      <m:t>=</m:t>
                    </m:r>
                    <m:f>
                      <m:fPr>
                        <m:ctrlPr>
                          <a:rPr lang="en-US" i="1" noProof="0" smtClean="0">
                            <a:latin typeface="Cambria Math" panose="02040503050406030204" pitchFamily="18" charset="0"/>
                          </a:rPr>
                        </m:ctrlPr>
                      </m:fPr>
                      <m:num>
                        <m:r>
                          <a:rPr lang="en-US" i="1" noProof="0" smtClean="0">
                            <a:latin typeface="Cambria Math" panose="02040503050406030204" pitchFamily="18" charset="0"/>
                          </a:rPr>
                          <m:t>𝑑</m:t>
                        </m:r>
                        <m:r>
                          <a:rPr lang="en-US" b="0" i="1" noProof="0" smtClean="0">
                            <a:latin typeface="Cambria Math" panose="02040503050406030204" pitchFamily="18" charset="0"/>
                          </a:rPr>
                          <m:t>𝑖𝑠𝑡𝑎𝑛𝑐𝑒</m:t>
                        </m:r>
                      </m:num>
                      <m:den>
                        <m:r>
                          <a:rPr lang="en-US" i="1" noProof="0" smtClean="0">
                            <a:latin typeface="Cambria Math" panose="02040503050406030204" pitchFamily="18" charset="0"/>
                          </a:rPr>
                          <m:t>𝑣</m:t>
                        </m:r>
                        <m:r>
                          <a:rPr lang="en-US" b="0" i="1" noProof="0" smtClean="0">
                            <a:latin typeface="Cambria Math" panose="02040503050406030204" pitchFamily="18" charset="0"/>
                          </a:rPr>
                          <m:t>𝑒𝑙𝑜𝑐𝑖𝑡𝑦</m:t>
                        </m:r>
                      </m:den>
                    </m:f>
                  </m:oMath>
                </a14:m>
                <a:endParaRPr lang="en-US" noProof="0" dirty="0"/>
              </a:p>
              <a:p>
                <a:r>
                  <a:rPr lang="en-US" noProof="0" dirty="0"/>
                  <a:t>Panel movement  and panel stall</a:t>
                </a:r>
              </a:p>
              <a:p>
                <a:r>
                  <a:rPr lang="en-US" noProof="0" dirty="0"/>
                  <a:t>Lubricant recovery:     </a:t>
                </a:r>
                <a14:m>
                  <m:oMath xmlns:m="http://schemas.openxmlformats.org/officeDocument/2006/math">
                    <m:r>
                      <a:rPr lang="en-US" b="0" i="0" noProof="0" smtClean="0">
                        <a:latin typeface="Cambria Math" panose="02040503050406030204" pitchFamily="18" charset="0"/>
                      </a:rPr>
                      <m:t> </m:t>
                    </m:r>
                    <m:r>
                      <a:rPr lang="en-US" i="1" noProof="0" smtClean="0">
                        <a:latin typeface="Cambria Math" panose="02040503050406030204" pitchFamily="18" charset="0"/>
                      </a:rPr>
                      <m:t>𝑠𝑒𝑣𝑒𝑟𝑖𝑡𝑦</m:t>
                    </m:r>
                    <m:r>
                      <a:rPr lang="en-US" i="1" noProof="0" smtClean="0">
                        <a:latin typeface="Cambria Math" panose="02040503050406030204" pitchFamily="18" charset="0"/>
                      </a:rPr>
                      <m:t>=</m:t>
                    </m:r>
                    <m:r>
                      <a:rPr lang="en-US" i="1" noProof="0" smtClean="0">
                        <a:latin typeface="Cambria Math" panose="02040503050406030204" pitchFamily="18" charset="0"/>
                      </a:rPr>
                      <m:t>𝑠𝑒𝑣𝑒𝑟𝑖𝑡𝑦</m:t>
                    </m:r>
                    <m:r>
                      <a:rPr lang="en-US" i="1" noProof="0" smtClean="0">
                        <a:latin typeface="Cambria Math" panose="02040503050406030204" pitchFamily="18" charset="0"/>
                      </a:rPr>
                      <m:t>−</m:t>
                    </m:r>
                    <m:sSub>
                      <m:sSubPr>
                        <m:ctrlPr>
                          <a:rPr lang="en-US" i="1" noProof="0" smtClean="0">
                            <a:latin typeface="Cambria Math" panose="02040503050406030204" pitchFamily="18" charset="0"/>
                          </a:rPr>
                        </m:ctrlPr>
                      </m:sSubPr>
                      <m:e>
                        <m:r>
                          <a:rPr lang="en-US" i="1" noProof="0" smtClean="0">
                            <a:latin typeface="Cambria Math" panose="02040503050406030204" pitchFamily="18" charset="0"/>
                          </a:rPr>
                          <m:t>𝑟</m:t>
                        </m:r>
                      </m:e>
                      <m:sub>
                        <m:r>
                          <a:rPr lang="en-US" i="1" noProof="0" smtClean="0">
                            <a:latin typeface="Cambria Math" panose="02040503050406030204" pitchFamily="18" charset="0"/>
                          </a:rPr>
                          <m:t>𝑙𝑢𝑏</m:t>
                        </m:r>
                      </m:sub>
                    </m:sSub>
                    <m:r>
                      <a:rPr lang="en-US" i="1" noProof="0" smtClean="0">
                        <a:latin typeface="Cambria Math" panose="02040503050406030204" pitchFamily="18" charset="0"/>
                      </a:rPr>
                      <m:t>·</m:t>
                    </m:r>
                    <m:r>
                      <m:rPr>
                        <m:sty m:val="p"/>
                      </m:rPr>
                      <a:rPr lang="en-US" i="0" noProof="0" smtClean="0">
                        <a:latin typeface="Cambria Math" panose="02040503050406030204" pitchFamily="18" charset="0"/>
                      </a:rPr>
                      <m:t>Δ</m:t>
                    </m:r>
                    <m:r>
                      <a:rPr lang="en-US" i="1" noProof="0" smtClean="0">
                        <a:latin typeface="Cambria Math" panose="02040503050406030204" pitchFamily="18" charset="0"/>
                      </a:rPr>
                      <m:t>𝑡</m:t>
                    </m:r>
                  </m:oMath>
                </a14:m>
                <a:endParaRPr lang="en-US" noProof="0" dirty="0"/>
              </a:p>
            </p:txBody>
          </p:sp>
        </mc:Choice>
        <mc:Fallback>
          <p:sp>
            <p:nvSpPr>
              <p:cNvPr id="3" name="Segnaposto contenuto 2">
                <a:extLst>
                  <a:ext uri="{FF2B5EF4-FFF2-40B4-BE49-F238E27FC236}">
                    <a16:creationId xmlns:a16="http://schemas.microsoft.com/office/drawing/2014/main" id="{4B6AB09E-25AF-72B1-6EBA-446F2BC34B29}"/>
                  </a:ext>
                </a:extLst>
              </p:cNvPr>
              <p:cNvSpPr>
                <a:spLocks noGrp="1" noRot="1" noChangeAspect="1" noMove="1" noResize="1" noEditPoints="1" noAdjustHandles="1" noChangeArrowheads="1" noChangeShapeType="1" noTextEdit="1"/>
              </p:cNvSpPr>
              <p:nvPr>
                <p:ph idx="1"/>
              </p:nvPr>
            </p:nvSpPr>
            <p:spPr>
              <a:blipFill>
                <a:blip r:embed="rId4"/>
                <a:stretch>
                  <a:fillRect l="-1217" t="-2381"/>
                </a:stretch>
              </a:blipFill>
            </p:spPr>
            <p:txBody>
              <a:bodyPr/>
              <a:lstStyle/>
              <a:p>
                <a:r>
                  <a:rPr lang="en-GB">
                    <a:noFill/>
                  </a:rPr>
                  <a:t> </a:t>
                </a:r>
              </a:p>
            </p:txBody>
          </p:sp>
        </mc:Fallback>
      </mc:AlternateContent>
    </p:spTree>
    <p:extLst>
      <p:ext uri="{BB962C8B-B14F-4D97-AF65-F5344CB8AC3E}">
        <p14:creationId xmlns:p14="http://schemas.microsoft.com/office/powerpoint/2010/main" val="3372160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7E22AD-65DC-17CA-3C03-3356BDBE8691}"/>
            </a:ext>
          </a:extLst>
        </p:cNvPr>
        <p:cNvGrpSpPr/>
        <p:nvPr/>
      </p:nvGrpSpPr>
      <p:grpSpPr>
        <a:xfrm>
          <a:off x="0" y="0"/>
          <a:ext cx="0" cy="0"/>
          <a:chOff x="0" y="0"/>
          <a:chExt cx="0" cy="0"/>
        </a:xfrm>
      </p:grpSpPr>
      <p:pic>
        <p:nvPicPr>
          <p:cNvPr id="4" name="Segnaposto contenuto 3" descr="Pin on Mobile wallpaper">
            <a:extLst>
              <a:ext uri="{FF2B5EF4-FFF2-40B4-BE49-F238E27FC236}">
                <a16:creationId xmlns:a16="http://schemas.microsoft.com/office/drawing/2014/main" id="{748CDE05-95BB-BD09-061B-792019ADEC15}"/>
              </a:ext>
            </a:extLst>
          </p:cNvPr>
          <p:cNvPicPr>
            <a:picLocks noGrp="1" noChangeAspect="1"/>
          </p:cNvPicPr>
          <p:nvPr>
            <p:ph idx="1"/>
          </p:nvPr>
        </p:nvPicPr>
        <p:blipFill>
          <a:blip r:embed="rId3"/>
          <a:srcRect b="19"/>
          <a:stretch>
            <a:fillRect/>
          </a:stretch>
        </p:blipFill>
        <p:spPr>
          <a:xfrm>
            <a:off x="20" y="1282"/>
            <a:ext cx="12191980" cy="6856718"/>
          </a:xfrm>
          <a:prstGeom prst="rect">
            <a:avLst/>
          </a:prstGeom>
        </p:spPr>
      </p:pic>
      <p:sp>
        <p:nvSpPr>
          <p:cNvPr id="15" name="Rettangolo con angoli arrotondati 14">
            <a:extLst>
              <a:ext uri="{FF2B5EF4-FFF2-40B4-BE49-F238E27FC236}">
                <a16:creationId xmlns:a16="http://schemas.microsoft.com/office/drawing/2014/main" id="{03DD88B8-0966-72FA-B7FE-F4B8D866EB6F}"/>
              </a:ext>
            </a:extLst>
          </p:cNvPr>
          <p:cNvSpPr/>
          <p:nvPr/>
        </p:nvSpPr>
        <p:spPr>
          <a:xfrm>
            <a:off x="8429750" y="1491912"/>
            <a:ext cx="2713665" cy="40365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ttangolo con angoli arrotondati 13">
            <a:extLst>
              <a:ext uri="{FF2B5EF4-FFF2-40B4-BE49-F238E27FC236}">
                <a16:creationId xmlns:a16="http://schemas.microsoft.com/office/drawing/2014/main" id="{3036CE68-CDFE-A10E-B62D-C9505539CC79}"/>
              </a:ext>
            </a:extLst>
          </p:cNvPr>
          <p:cNvSpPr/>
          <p:nvPr/>
        </p:nvSpPr>
        <p:spPr>
          <a:xfrm>
            <a:off x="4739167" y="1491913"/>
            <a:ext cx="2713665" cy="40365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117543B7-9C5C-99D8-3AB8-5D66546E4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noProof="0" dirty="0"/>
          </a:p>
        </p:txBody>
      </p:sp>
      <p:sp>
        <p:nvSpPr>
          <p:cNvPr id="5" name="Rettangolo con angoli arrotondati 4">
            <a:extLst>
              <a:ext uri="{FF2B5EF4-FFF2-40B4-BE49-F238E27FC236}">
                <a16:creationId xmlns:a16="http://schemas.microsoft.com/office/drawing/2014/main" id="{9C7A247D-B585-1CCB-F246-87214AAA5F78}"/>
              </a:ext>
            </a:extLst>
          </p:cNvPr>
          <p:cNvSpPr/>
          <p:nvPr/>
        </p:nvSpPr>
        <p:spPr>
          <a:xfrm>
            <a:off x="1048584" y="1491913"/>
            <a:ext cx="2713665" cy="40365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CasellaDiTesto 7">
            <a:extLst>
              <a:ext uri="{FF2B5EF4-FFF2-40B4-BE49-F238E27FC236}">
                <a16:creationId xmlns:a16="http://schemas.microsoft.com/office/drawing/2014/main" id="{C48A7803-19A3-0256-8027-BD65154DC59E}"/>
              </a:ext>
            </a:extLst>
          </p:cNvPr>
          <p:cNvSpPr txBox="1"/>
          <p:nvPr/>
        </p:nvSpPr>
        <p:spPr>
          <a:xfrm>
            <a:off x="2069139" y="1560887"/>
            <a:ext cx="672556" cy="369332"/>
          </a:xfrm>
          <a:prstGeom prst="rect">
            <a:avLst/>
          </a:prstGeom>
          <a:noFill/>
        </p:spPr>
        <p:txBody>
          <a:bodyPr wrap="none" rtlCol="0">
            <a:spAutoFit/>
          </a:bodyPr>
          <a:lstStyle/>
          <a:p>
            <a:r>
              <a:rPr lang="en-US" noProof="0" dirty="0">
                <a:highlight>
                  <a:srgbClr val="FFFF00"/>
                </a:highlight>
              </a:rPr>
              <a:t>Loc1</a:t>
            </a:r>
          </a:p>
        </p:txBody>
      </p:sp>
      <p:sp>
        <p:nvSpPr>
          <p:cNvPr id="10" name="CasellaDiTesto 9">
            <a:extLst>
              <a:ext uri="{FF2B5EF4-FFF2-40B4-BE49-F238E27FC236}">
                <a16:creationId xmlns:a16="http://schemas.microsoft.com/office/drawing/2014/main" id="{7921E256-89CD-C222-BC43-B8AC6EF89A82}"/>
              </a:ext>
            </a:extLst>
          </p:cNvPr>
          <p:cNvSpPr txBox="1"/>
          <p:nvPr/>
        </p:nvSpPr>
        <p:spPr>
          <a:xfrm>
            <a:off x="5759722" y="1560887"/>
            <a:ext cx="672556" cy="369332"/>
          </a:xfrm>
          <a:prstGeom prst="rect">
            <a:avLst/>
          </a:prstGeom>
          <a:noFill/>
        </p:spPr>
        <p:txBody>
          <a:bodyPr wrap="none" rtlCol="0">
            <a:spAutoFit/>
          </a:bodyPr>
          <a:lstStyle/>
          <a:p>
            <a:r>
              <a:rPr lang="en-US" noProof="0" dirty="0">
                <a:highlight>
                  <a:srgbClr val="FFFF00"/>
                </a:highlight>
              </a:rPr>
              <a:t>Loc2</a:t>
            </a:r>
          </a:p>
        </p:txBody>
      </p:sp>
      <p:sp>
        <p:nvSpPr>
          <p:cNvPr id="11" name="CasellaDiTesto 10">
            <a:extLst>
              <a:ext uri="{FF2B5EF4-FFF2-40B4-BE49-F238E27FC236}">
                <a16:creationId xmlns:a16="http://schemas.microsoft.com/office/drawing/2014/main" id="{5A70584C-494E-4594-FE47-B3035F3B47E7}"/>
              </a:ext>
            </a:extLst>
          </p:cNvPr>
          <p:cNvSpPr txBox="1"/>
          <p:nvPr/>
        </p:nvSpPr>
        <p:spPr>
          <a:xfrm>
            <a:off x="9450304" y="1560887"/>
            <a:ext cx="672556" cy="369332"/>
          </a:xfrm>
          <a:prstGeom prst="rect">
            <a:avLst/>
          </a:prstGeom>
          <a:noFill/>
        </p:spPr>
        <p:txBody>
          <a:bodyPr wrap="none" rtlCol="0">
            <a:spAutoFit/>
          </a:bodyPr>
          <a:lstStyle/>
          <a:p>
            <a:r>
              <a:rPr lang="en-US" noProof="0" dirty="0">
                <a:highlight>
                  <a:srgbClr val="FFFF00"/>
                </a:highlight>
              </a:rPr>
              <a:t>Loc3</a:t>
            </a:r>
          </a:p>
        </p:txBody>
      </p:sp>
      <p:pic>
        <p:nvPicPr>
          <p:cNvPr id="13" name="Immagine 12" descr="The image depicts a simple, cylindrical water tank with a metal frame, typically used for storage or heating purposes.&#10;&#10;Il contenuto generato dall'IA potrebbe non essere corretto.">
            <a:extLst>
              <a:ext uri="{FF2B5EF4-FFF2-40B4-BE49-F238E27FC236}">
                <a16:creationId xmlns:a16="http://schemas.microsoft.com/office/drawing/2014/main" id="{2B77CD1B-9100-1BED-6368-5F04D53FB8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4039" y="1969511"/>
            <a:ext cx="1862756" cy="1168879"/>
          </a:xfrm>
          <a:prstGeom prst="rect">
            <a:avLst/>
          </a:prstGeom>
        </p:spPr>
      </p:pic>
      <p:sp>
        <p:nvSpPr>
          <p:cNvPr id="19" name="Rettangolo 18">
            <a:extLst>
              <a:ext uri="{FF2B5EF4-FFF2-40B4-BE49-F238E27FC236}">
                <a16:creationId xmlns:a16="http://schemas.microsoft.com/office/drawing/2014/main" id="{9878D472-61AB-D079-78BA-90D82A438F6D}"/>
              </a:ext>
            </a:extLst>
          </p:cNvPr>
          <p:cNvSpPr/>
          <p:nvPr/>
        </p:nvSpPr>
        <p:spPr>
          <a:xfrm>
            <a:off x="6582602" y="2492421"/>
            <a:ext cx="2514803" cy="136123"/>
          </a:xfrm>
          <a:prstGeom prst="rect">
            <a:avLst/>
          </a:prstGeom>
          <a:solidFill>
            <a:schemeClr val="bg2">
              <a:lumMod val="75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ttangolo 21">
            <a:extLst>
              <a:ext uri="{FF2B5EF4-FFF2-40B4-BE49-F238E27FC236}">
                <a16:creationId xmlns:a16="http://schemas.microsoft.com/office/drawing/2014/main" id="{E3F2D1AD-4A1C-45D0-2F7B-A747C8CBEBCA}"/>
              </a:ext>
            </a:extLst>
          </p:cNvPr>
          <p:cNvSpPr/>
          <p:nvPr/>
        </p:nvSpPr>
        <p:spPr>
          <a:xfrm>
            <a:off x="3136223" y="2492421"/>
            <a:ext cx="2469462" cy="136123"/>
          </a:xfrm>
          <a:prstGeom prst="rect">
            <a:avLst/>
          </a:prstGeom>
          <a:solidFill>
            <a:schemeClr val="bg2">
              <a:lumMod val="75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6" name="Immagine 15" descr="The image depicts a simple, cylindrical water tank with a metal frame, typically used for storage or heating purposes.&#10;&#10;Il contenuto generato dall'IA potrebbe non essere corretto.">
            <a:extLst>
              <a:ext uri="{FF2B5EF4-FFF2-40B4-BE49-F238E27FC236}">
                <a16:creationId xmlns:a16="http://schemas.microsoft.com/office/drawing/2014/main" id="{EA00AAEA-E32C-1F9B-34CB-EB79B730C5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7259" y="2118181"/>
            <a:ext cx="1862756" cy="1168879"/>
          </a:xfrm>
          <a:prstGeom prst="rect">
            <a:avLst/>
          </a:prstGeom>
        </p:spPr>
      </p:pic>
      <p:pic>
        <p:nvPicPr>
          <p:cNvPr id="18" name="Immagine 17" descr="An isolated, red, circular, metallic fire hydrant with a prominent, circular, black, eye-like closure.&#10;&#10;Il contenuto generato dall'IA potrebbe non essere corretto.">
            <a:extLst>
              <a:ext uri="{FF2B5EF4-FFF2-40B4-BE49-F238E27FC236}">
                <a16:creationId xmlns:a16="http://schemas.microsoft.com/office/drawing/2014/main" id="{2F620771-5498-1682-A51D-328F23D976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5706115" y="2025080"/>
            <a:ext cx="779767" cy="1070806"/>
          </a:xfrm>
          <a:prstGeom prst="rect">
            <a:avLst/>
          </a:prstGeom>
        </p:spPr>
      </p:pic>
      <p:pic>
        <p:nvPicPr>
          <p:cNvPr id="25" name="Immagine 24" descr="The image depicts a simple, minimalist representation of a warehouse structure, characterized by its rectangular shape and a flat, triangular roof.&#10;&#10;Il contenuto generato dall'IA potrebbe non essere corretto.">
            <a:extLst>
              <a:ext uri="{FF2B5EF4-FFF2-40B4-BE49-F238E27FC236}">
                <a16:creationId xmlns:a16="http://schemas.microsoft.com/office/drawing/2014/main" id="{B5C60495-63CA-4A8B-2FC4-0BC8D27AFE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48729" y="4070640"/>
            <a:ext cx="1295448" cy="1295448"/>
          </a:xfrm>
          <a:prstGeom prst="rect">
            <a:avLst/>
          </a:prstGeom>
        </p:spPr>
      </p:pic>
      <p:pic>
        <p:nvPicPr>
          <p:cNvPr id="29" name="Immagine 28" descr="The image shows a pair of intricate robotic arm mechanisms, each with multiple joints and mechanical links, positioned against a white background.&#10;&#10;Il contenuto generato dall'IA potrebbe non essere corretto.">
            <a:extLst>
              <a:ext uri="{FF2B5EF4-FFF2-40B4-BE49-F238E27FC236}">
                <a16:creationId xmlns:a16="http://schemas.microsoft.com/office/drawing/2014/main" id="{5F06280D-64D1-3736-507B-79D9BE1BB9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1170685" y="3598204"/>
            <a:ext cx="2469462" cy="1646308"/>
          </a:xfrm>
          <a:prstGeom prst="rect">
            <a:avLst/>
          </a:prstGeom>
        </p:spPr>
      </p:pic>
      <p:sp>
        <p:nvSpPr>
          <p:cNvPr id="30" name="CasellaDiTesto 29">
            <a:extLst>
              <a:ext uri="{FF2B5EF4-FFF2-40B4-BE49-F238E27FC236}">
                <a16:creationId xmlns:a16="http://schemas.microsoft.com/office/drawing/2014/main" id="{AF5A3FB3-DC3F-2FAC-0E5D-A06A3CE4A978}"/>
              </a:ext>
            </a:extLst>
          </p:cNvPr>
          <p:cNvSpPr txBox="1"/>
          <p:nvPr/>
        </p:nvSpPr>
        <p:spPr>
          <a:xfrm>
            <a:off x="6086483" y="1890145"/>
            <a:ext cx="894797" cy="369332"/>
          </a:xfrm>
          <a:prstGeom prst="rect">
            <a:avLst/>
          </a:prstGeom>
          <a:noFill/>
        </p:spPr>
        <p:txBody>
          <a:bodyPr wrap="none" rtlCol="0">
            <a:spAutoFit/>
          </a:bodyPr>
          <a:lstStyle/>
          <a:p>
            <a:r>
              <a:rPr lang="en-US" noProof="0" dirty="0">
                <a:solidFill>
                  <a:srgbClr val="FF0000"/>
                </a:solidFill>
              </a:rPr>
              <a:t>Closed</a:t>
            </a:r>
          </a:p>
        </p:txBody>
      </p:sp>
      <p:pic>
        <p:nvPicPr>
          <p:cNvPr id="17" name="Immagine 16" descr="The image depicts a minimalistic representation of a wireless speaker with an open sound wave emanating from its center.&#10;&#10;Il contenuto generato dall'IA potrebbe non essere corretto.">
            <a:extLst>
              <a:ext uri="{FF2B5EF4-FFF2-40B4-BE49-F238E27FC236}">
                <a16:creationId xmlns:a16="http://schemas.microsoft.com/office/drawing/2014/main" id="{73E26071-6299-5802-2A81-16C465DB579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96259" y="2032038"/>
            <a:ext cx="1295910" cy="863940"/>
          </a:xfrm>
          <a:prstGeom prst="rect">
            <a:avLst/>
          </a:prstGeom>
        </p:spPr>
      </p:pic>
      <p:sp>
        <p:nvSpPr>
          <p:cNvPr id="2" name="Parallelogramma 1">
            <a:extLst>
              <a:ext uri="{FF2B5EF4-FFF2-40B4-BE49-F238E27FC236}">
                <a16:creationId xmlns:a16="http://schemas.microsoft.com/office/drawing/2014/main" id="{B1981B9C-11FE-EBAD-704C-AFD2770BE85E}"/>
              </a:ext>
            </a:extLst>
          </p:cNvPr>
          <p:cNvSpPr/>
          <p:nvPr/>
        </p:nvSpPr>
        <p:spPr>
          <a:xfrm rot="500540">
            <a:off x="1366329" y="2081525"/>
            <a:ext cx="2031143" cy="1063816"/>
          </a:xfrm>
          <a:prstGeom prst="parallelogram">
            <a:avLst/>
          </a:prstGeom>
          <a:solidFill>
            <a:schemeClr val="accent6">
              <a:lumMod val="75000"/>
              <a:alpha val="5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CasellaDiTesto 6">
            <a:extLst>
              <a:ext uri="{FF2B5EF4-FFF2-40B4-BE49-F238E27FC236}">
                <a16:creationId xmlns:a16="http://schemas.microsoft.com/office/drawing/2014/main" id="{D945915F-3953-03C2-EBFE-22AEE307102B}"/>
              </a:ext>
            </a:extLst>
          </p:cNvPr>
          <p:cNvSpPr txBox="1"/>
          <p:nvPr/>
        </p:nvSpPr>
        <p:spPr>
          <a:xfrm rot="495126">
            <a:off x="1283458" y="2791644"/>
            <a:ext cx="752514" cy="307777"/>
          </a:xfrm>
          <a:prstGeom prst="rect">
            <a:avLst/>
          </a:prstGeom>
          <a:noFill/>
        </p:spPr>
        <p:txBody>
          <a:bodyPr wrap="none" rtlCol="0">
            <a:spAutoFit/>
          </a:bodyPr>
          <a:lstStyle/>
          <a:p>
            <a:r>
              <a:rPr lang="en-US" sz="1400" noProof="0" dirty="0"/>
              <a:t>Panel 1</a:t>
            </a:r>
          </a:p>
        </p:txBody>
      </p:sp>
      <p:pic>
        <p:nvPicPr>
          <p:cNvPr id="21" name="Immagine 20" descr="The image depicts a minimalistic representation of a speaker with four concentric circles, symbolizing sound waves emanating from it.&#10;&#10;Il contenuto generato dall'IA potrebbe non essere corretto.">
            <a:extLst>
              <a:ext uri="{FF2B5EF4-FFF2-40B4-BE49-F238E27FC236}">
                <a16:creationId xmlns:a16="http://schemas.microsoft.com/office/drawing/2014/main" id="{2CD3F595-EA15-34BB-98F0-CD850660E06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071849" y="2136595"/>
            <a:ext cx="1314889" cy="876592"/>
          </a:xfrm>
          <a:prstGeom prst="rect">
            <a:avLst/>
          </a:prstGeom>
        </p:spPr>
      </p:pic>
      <p:sp>
        <p:nvSpPr>
          <p:cNvPr id="3" name="Parallelogramma 2">
            <a:extLst>
              <a:ext uri="{FF2B5EF4-FFF2-40B4-BE49-F238E27FC236}">
                <a16:creationId xmlns:a16="http://schemas.microsoft.com/office/drawing/2014/main" id="{065E16C3-0CA1-E678-0290-0AF8E2F926CF}"/>
              </a:ext>
            </a:extLst>
          </p:cNvPr>
          <p:cNvSpPr/>
          <p:nvPr/>
        </p:nvSpPr>
        <p:spPr>
          <a:xfrm rot="500540">
            <a:off x="8733768" y="2249368"/>
            <a:ext cx="2031143" cy="1063816"/>
          </a:xfrm>
          <a:prstGeom prst="parallelogram">
            <a:avLst/>
          </a:prstGeom>
          <a:solidFill>
            <a:schemeClr val="accent6">
              <a:lumMod val="75000"/>
              <a:alpha val="59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CasellaDiTesto 5">
            <a:extLst>
              <a:ext uri="{FF2B5EF4-FFF2-40B4-BE49-F238E27FC236}">
                <a16:creationId xmlns:a16="http://schemas.microsoft.com/office/drawing/2014/main" id="{23084F46-1CB9-A9DB-D421-8A067ABE97C6}"/>
              </a:ext>
            </a:extLst>
          </p:cNvPr>
          <p:cNvSpPr txBox="1"/>
          <p:nvPr/>
        </p:nvSpPr>
        <p:spPr>
          <a:xfrm rot="495126">
            <a:off x="8679598" y="2937404"/>
            <a:ext cx="752514" cy="307777"/>
          </a:xfrm>
          <a:prstGeom prst="rect">
            <a:avLst/>
          </a:prstGeom>
          <a:noFill/>
        </p:spPr>
        <p:txBody>
          <a:bodyPr wrap="none" rtlCol="0">
            <a:spAutoFit/>
          </a:bodyPr>
          <a:lstStyle/>
          <a:p>
            <a:r>
              <a:rPr lang="en-US" sz="1400" noProof="0" dirty="0"/>
              <a:t>Panel 2</a:t>
            </a:r>
          </a:p>
        </p:txBody>
      </p:sp>
      <p:sp>
        <p:nvSpPr>
          <p:cNvPr id="23" name="CasellaDiTesto 22">
            <a:extLst>
              <a:ext uri="{FF2B5EF4-FFF2-40B4-BE49-F238E27FC236}">
                <a16:creationId xmlns:a16="http://schemas.microsoft.com/office/drawing/2014/main" id="{67574990-B9E9-D01C-1879-FA2487DA7CB1}"/>
              </a:ext>
            </a:extLst>
          </p:cNvPr>
          <p:cNvSpPr txBox="1"/>
          <p:nvPr/>
        </p:nvSpPr>
        <p:spPr>
          <a:xfrm>
            <a:off x="4792731" y="397292"/>
            <a:ext cx="2587503" cy="584775"/>
          </a:xfrm>
          <a:prstGeom prst="rect">
            <a:avLst/>
          </a:prstGeom>
          <a:noFill/>
        </p:spPr>
        <p:txBody>
          <a:bodyPr wrap="none" rtlCol="0">
            <a:spAutoFit/>
          </a:bodyPr>
          <a:lstStyle/>
          <a:p>
            <a:pPr algn="ctr"/>
            <a:r>
              <a:rPr lang="en-US" sz="3200" noProof="0" dirty="0">
                <a:solidFill>
                  <a:srgbClr val="FFFF00"/>
                </a:solidFill>
              </a:rPr>
              <a:t>Problem 1 Q2</a:t>
            </a:r>
          </a:p>
        </p:txBody>
      </p:sp>
      <p:sp>
        <p:nvSpPr>
          <p:cNvPr id="24" name="CasellaDiTesto 23">
            <a:extLst>
              <a:ext uri="{FF2B5EF4-FFF2-40B4-BE49-F238E27FC236}">
                <a16:creationId xmlns:a16="http://schemas.microsoft.com/office/drawing/2014/main" id="{7F581EFF-C706-0D1E-2A23-E20AB4AA19F8}"/>
              </a:ext>
            </a:extLst>
          </p:cNvPr>
          <p:cNvSpPr txBox="1"/>
          <p:nvPr/>
        </p:nvSpPr>
        <p:spPr>
          <a:xfrm>
            <a:off x="6086482" y="2818118"/>
            <a:ext cx="1342034" cy="369332"/>
          </a:xfrm>
          <a:prstGeom prst="rect">
            <a:avLst/>
          </a:prstGeom>
          <a:noFill/>
        </p:spPr>
        <p:txBody>
          <a:bodyPr wrap="none" rtlCol="0">
            <a:spAutoFit/>
          </a:bodyPr>
          <a:lstStyle/>
          <a:p>
            <a:r>
              <a:rPr lang="en-US" noProof="0" dirty="0"/>
              <a:t>0.1 opening</a:t>
            </a:r>
          </a:p>
        </p:txBody>
      </p:sp>
      <p:sp>
        <p:nvSpPr>
          <p:cNvPr id="26" name="CasellaDiTesto 25">
            <a:extLst>
              <a:ext uri="{FF2B5EF4-FFF2-40B4-BE49-F238E27FC236}">
                <a16:creationId xmlns:a16="http://schemas.microsoft.com/office/drawing/2014/main" id="{11B563C0-AACB-B273-5966-3A2EC5856D10}"/>
              </a:ext>
            </a:extLst>
          </p:cNvPr>
          <p:cNvSpPr txBox="1"/>
          <p:nvPr/>
        </p:nvSpPr>
        <p:spPr>
          <a:xfrm>
            <a:off x="10334493" y="1890145"/>
            <a:ext cx="680251" cy="369332"/>
          </a:xfrm>
          <a:prstGeom prst="rect">
            <a:avLst/>
          </a:prstGeom>
          <a:noFill/>
        </p:spPr>
        <p:txBody>
          <a:bodyPr wrap="none" rtlCol="0">
            <a:spAutoFit/>
          </a:bodyPr>
          <a:lstStyle/>
          <a:p>
            <a:r>
              <a:rPr lang="en-US" noProof="0" dirty="0"/>
              <a:t>50Pa</a:t>
            </a:r>
          </a:p>
        </p:txBody>
      </p:sp>
      <p:sp>
        <p:nvSpPr>
          <p:cNvPr id="27" name="CasellaDiTesto 26">
            <a:extLst>
              <a:ext uri="{FF2B5EF4-FFF2-40B4-BE49-F238E27FC236}">
                <a16:creationId xmlns:a16="http://schemas.microsoft.com/office/drawing/2014/main" id="{9F134DB6-3F81-7C9A-CD51-5D563F999447}"/>
              </a:ext>
            </a:extLst>
          </p:cNvPr>
          <p:cNvSpPr txBox="1"/>
          <p:nvPr/>
        </p:nvSpPr>
        <p:spPr>
          <a:xfrm>
            <a:off x="2874808" y="1789626"/>
            <a:ext cx="803682" cy="369332"/>
          </a:xfrm>
          <a:prstGeom prst="rect">
            <a:avLst/>
          </a:prstGeom>
          <a:noFill/>
        </p:spPr>
        <p:txBody>
          <a:bodyPr wrap="none" rtlCol="0">
            <a:spAutoFit/>
          </a:bodyPr>
          <a:lstStyle/>
          <a:p>
            <a:r>
              <a:rPr lang="en-US" noProof="0" dirty="0"/>
              <a:t>100Pa</a:t>
            </a:r>
          </a:p>
        </p:txBody>
      </p:sp>
      <p:sp>
        <p:nvSpPr>
          <p:cNvPr id="12" name="CasellaDiTesto 11">
            <a:extLst>
              <a:ext uri="{FF2B5EF4-FFF2-40B4-BE49-F238E27FC236}">
                <a16:creationId xmlns:a16="http://schemas.microsoft.com/office/drawing/2014/main" id="{FDE40DE0-276F-B8B7-73A7-9A78E83274A3}"/>
              </a:ext>
            </a:extLst>
          </p:cNvPr>
          <p:cNvSpPr txBox="1"/>
          <p:nvPr/>
        </p:nvSpPr>
        <p:spPr>
          <a:xfrm rot="17517878">
            <a:off x="10253977" y="2744619"/>
            <a:ext cx="1008609" cy="369332"/>
          </a:xfrm>
          <a:prstGeom prst="rect">
            <a:avLst/>
          </a:prstGeom>
          <a:noFill/>
        </p:spPr>
        <p:txBody>
          <a:bodyPr wrap="none" rtlCol="0">
            <a:spAutoFit/>
          </a:bodyPr>
          <a:lstStyle/>
          <a:p>
            <a:r>
              <a:rPr lang="en-US" noProof="0" dirty="0"/>
              <a:t>jammed</a:t>
            </a:r>
          </a:p>
        </p:txBody>
      </p:sp>
    </p:spTree>
    <p:extLst>
      <p:ext uri="{BB962C8B-B14F-4D97-AF65-F5344CB8AC3E}">
        <p14:creationId xmlns:p14="http://schemas.microsoft.com/office/powerpoint/2010/main" val="1756344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A18D85A-97F4-0ADD-F576-74F172C91CB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E1C54FA-7BAD-F5C2-3AD5-6B94E1414E66}"/>
              </a:ext>
            </a:extLst>
          </p:cNvPr>
          <p:cNvSpPr>
            <a:spLocks noGrp="1"/>
          </p:cNvSpPr>
          <p:nvPr>
            <p:ph type="title"/>
          </p:nvPr>
        </p:nvSpPr>
        <p:spPr/>
        <p:txBody>
          <a:bodyPr/>
          <a:lstStyle/>
          <a:p>
            <a:r>
              <a:rPr lang="en-US" noProof="0" dirty="0"/>
              <a:t>Plan for problem 1 PDDL+ *</a:t>
            </a:r>
          </a:p>
        </p:txBody>
      </p:sp>
      <p:sp>
        <p:nvSpPr>
          <p:cNvPr id="3" name="Segnaposto contenuto 2">
            <a:extLst>
              <a:ext uri="{FF2B5EF4-FFF2-40B4-BE49-F238E27FC236}">
                <a16:creationId xmlns:a16="http://schemas.microsoft.com/office/drawing/2014/main" id="{AD57350D-4392-833A-0E13-439CF8075E11}"/>
              </a:ext>
            </a:extLst>
          </p:cNvPr>
          <p:cNvSpPr>
            <a:spLocks noGrp="1"/>
          </p:cNvSpPr>
          <p:nvPr>
            <p:ph idx="1"/>
          </p:nvPr>
        </p:nvSpPr>
        <p:spPr/>
        <p:txBody>
          <a:bodyPr>
            <a:normAutofit/>
          </a:bodyPr>
          <a:lstStyle/>
          <a:p>
            <a:r>
              <a:rPr lang="en-US" sz="1800" noProof="0" dirty="0"/>
              <a:t>Do all the diagnostic actions</a:t>
            </a:r>
          </a:p>
          <a:p>
            <a:r>
              <a:rPr lang="en-US" sz="1800" noProof="0" dirty="0"/>
              <a:t>Move to Loc2</a:t>
            </a:r>
          </a:p>
          <a:p>
            <a:r>
              <a:rPr lang="en-US" sz="1800" noProof="0" dirty="0"/>
              <a:t>Take the adjustable wrench from the toolbox and tighten the valve</a:t>
            </a:r>
          </a:p>
          <a:p>
            <a:r>
              <a:rPr lang="en-US" sz="1800" noProof="0" dirty="0">
                <a:solidFill>
                  <a:srgbClr val="000000"/>
                </a:solidFill>
              </a:rPr>
              <a:t>Place the adjustable wrench in the toolbox and move to Loc3</a:t>
            </a:r>
          </a:p>
          <a:p>
            <a:r>
              <a:rPr lang="en-US" sz="1800" noProof="0" dirty="0">
                <a:solidFill>
                  <a:srgbClr val="000000"/>
                </a:solidFill>
              </a:rPr>
              <a:t>Try to open the panel 2 until the alarm triggers</a:t>
            </a:r>
          </a:p>
          <a:p>
            <a:r>
              <a:rPr lang="en-US" sz="1800" noProof="0" dirty="0">
                <a:solidFill>
                  <a:srgbClr val="000000"/>
                </a:solidFill>
              </a:rPr>
              <a:t>Run the diagnostic for jammed panel and confirm the fault</a:t>
            </a:r>
          </a:p>
          <a:p>
            <a:r>
              <a:rPr lang="en-US" sz="1800" noProof="0" dirty="0">
                <a:solidFill>
                  <a:srgbClr val="000000"/>
                </a:solidFill>
              </a:rPr>
              <a:t>Start lubricant recovery and wait</a:t>
            </a:r>
          </a:p>
          <a:p>
            <a:r>
              <a:rPr lang="en-US" sz="1800" noProof="0" dirty="0">
                <a:solidFill>
                  <a:srgbClr val="000000"/>
                </a:solidFill>
              </a:rPr>
              <a:t>Open the panel and replace the broken sensor</a:t>
            </a:r>
          </a:p>
          <a:p>
            <a:r>
              <a:rPr lang="en-US" sz="1800" noProof="0" dirty="0">
                <a:solidFill>
                  <a:srgbClr val="000000"/>
                </a:solidFill>
              </a:rPr>
              <a:t>Close the panel and verify if everything is working properly</a:t>
            </a:r>
          </a:p>
          <a:p>
            <a:endParaRPr lang="en-US" sz="1800" noProof="0" dirty="0">
              <a:solidFill>
                <a:srgbClr val="000000"/>
              </a:solidFill>
            </a:endParaRPr>
          </a:p>
          <a:p>
            <a:pPr marL="0" indent="0">
              <a:buNone/>
            </a:pPr>
            <a:r>
              <a:rPr lang="en-US" sz="1800" b="0" i="0" noProof="0" dirty="0">
                <a:solidFill>
                  <a:srgbClr val="000000"/>
                </a:solidFill>
                <a:effectLst/>
              </a:rPr>
              <a:t>Plan-Length: 99</a:t>
            </a:r>
          </a:p>
          <a:p>
            <a:endParaRPr lang="en-US" sz="1800" noProof="0" dirty="0"/>
          </a:p>
          <a:p>
            <a:endParaRPr lang="en-US" noProof="0" dirty="0"/>
          </a:p>
        </p:txBody>
      </p:sp>
      <p:sp>
        <p:nvSpPr>
          <p:cNvPr id="4" name="CasellaDiTesto 3">
            <a:extLst>
              <a:ext uri="{FF2B5EF4-FFF2-40B4-BE49-F238E27FC236}">
                <a16:creationId xmlns:a16="http://schemas.microsoft.com/office/drawing/2014/main" id="{567EA497-E6E0-BBB0-A868-CA67CCB62062}"/>
              </a:ext>
            </a:extLst>
          </p:cNvPr>
          <p:cNvSpPr txBox="1"/>
          <p:nvPr/>
        </p:nvSpPr>
        <p:spPr>
          <a:xfrm>
            <a:off x="6837615" y="6371679"/>
            <a:ext cx="5320816" cy="369332"/>
          </a:xfrm>
          <a:prstGeom prst="rect">
            <a:avLst/>
          </a:prstGeom>
          <a:noFill/>
        </p:spPr>
        <p:txBody>
          <a:bodyPr wrap="none" rtlCol="0">
            <a:spAutoFit/>
          </a:bodyPr>
          <a:lstStyle/>
          <a:p>
            <a:r>
              <a:rPr lang="en-US" noProof="0" dirty="0"/>
              <a:t>*:Some simplification has been made for readability</a:t>
            </a:r>
          </a:p>
        </p:txBody>
      </p:sp>
    </p:spTree>
    <p:extLst>
      <p:ext uri="{BB962C8B-B14F-4D97-AF65-F5344CB8AC3E}">
        <p14:creationId xmlns:p14="http://schemas.microsoft.com/office/powerpoint/2010/main" val="2681095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9986343-838A-ED06-A68D-717743CEE383}"/>
              </a:ext>
            </a:extLst>
          </p:cNvPr>
          <p:cNvSpPr>
            <a:spLocks noGrp="1"/>
          </p:cNvSpPr>
          <p:nvPr>
            <p:ph type="title"/>
          </p:nvPr>
        </p:nvSpPr>
        <p:spPr>
          <a:xfrm>
            <a:off x="228600" y="389509"/>
            <a:ext cx="4855464" cy="1325563"/>
          </a:xfrm>
        </p:spPr>
        <p:txBody>
          <a:bodyPr/>
          <a:lstStyle/>
          <a:p>
            <a:r>
              <a:rPr lang="en-US" noProof="0" dirty="0"/>
              <a:t>Plan 2 Q2</a:t>
            </a:r>
          </a:p>
        </p:txBody>
      </p:sp>
      <p:pic>
        <p:nvPicPr>
          <p:cNvPr id="5" name="Segnaposto contenuto 4" descr="The diagram shows a pressure drop over time in a tank-to-tank system, with a pressure of 100 at t = 80.28 seconds and a pressure drop from 140 to 0 over the time span.&#10;&#10;Il contenuto generato dall'IA potrebbe non essere corretto.">
            <a:extLst>
              <a:ext uri="{FF2B5EF4-FFF2-40B4-BE49-F238E27FC236}">
                <a16:creationId xmlns:a16="http://schemas.microsoft.com/office/drawing/2014/main" id="{5FB5AA26-31F0-A20B-7949-C892ABD4E8F8}"/>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5467602" y="129419"/>
            <a:ext cx="5486910" cy="3347015"/>
          </a:xfrm>
          <a:prstGeom prst="rect">
            <a:avLst/>
          </a:prstGeom>
        </p:spPr>
      </p:pic>
      <p:pic>
        <p:nvPicPr>
          <p:cNvPr id="7" name="Immagine 6" descr="The diagram shows a pressure gauge reading for two tanks connected via a valve, indicating a decrease in pressure over time, reaching below 1.0 at 10.02 seconds.&#10;&#10;Il contenuto generato dall'IA potrebbe non essere corretto.">
            <a:extLst>
              <a:ext uri="{FF2B5EF4-FFF2-40B4-BE49-F238E27FC236}">
                <a16:creationId xmlns:a16="http://schemas.microsoft.com/office/drawing/2014/main" id="{966DA148-ADDD-5C1F-6B57-6B67C31A8D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67602" y="3429000"/>
            <a:ext cx="5486910" cy="3347015"/>
          </a:xfrm>
          <a:prstGeom prst="rect">
            <a:avLst/>
          </a:prstGeom>
        </p:spPr>
      </p:pic>
      <p:sp>
        <p:nvSpPr>
          <p:cNvPr id="8" name="CasellaDiTesto 7">
            <a:extLst>
              <a:ext uri="{FF2B5EF4-FFF2-40B4-BE49-F238E27FC236}">
                <a16:creationId xmlns:a16="http://schemas.microsoft.com/office/drawing/2014/main" id="{CE40370A-1D0F-ED9D-7C2C-7E7CA017290B}"/>
              </a:ext>
            </a:extLst>
          </p:cNvPr>
          <p:cNvSpPr txBox="1"/>
          <p:nvPr/>
        </p:nvSpPr>
        <p:spPr>
          <a:xfrm>
            <a:off x="228600" y="1802926"/>
            <a:ext cx="4962144" cy="1477328"/>
          </a:xfrm>
          <a:prstGeom prst="rect">
            <a:avLst/>
          </a:prstGeom>
          <a:noFill/>
        </p:spPr>
        <p:txBody>
          <a:bodyPr wrap="square" rtlCol="0">
            <a:spAutoFit/>
          </a:bodyPr>
          <a:lstStyle/>
          <a:p>
            <a:r>
              <a:rPr lang="en-US" noProof="0" dirty="0"/>
              <a:t>Same scenario of problem one but with two differences</a:t>
            </a:r>
          </a:p>
          <a:p>
            <a:pPr marL="285750" indent="-285750">
              <a:buFont typeface="Arial" panose="020B0604020202020204" pitchFamily="34" charset="0"/>
              <a:buChar char="•"/>
            </a:pPr>
            <a:r>
              <a:rPr lang="en-US" noProof="0" dirty="0"/>
              <a:t>The valve now is almost fully open (0.8)</a:t>
            </a:r>
          </a:p>
          <a:p>
            <a:pPr marL="285750" indent="-285750">
              <a:buFont typeface="Arial" panose="020B0604020202020204" pitchFamily="34" charset="0"/>
              <a:buChar char="•"/>
            </a:pPr>
            <a:r>
              <a:rPr lang="en-US" noProof="0" dirty="0"/>
              <a:t>The distance between each location is doubled</a:t>
            </a:r>
          </a:p>
        </p:txBody>
      </p:sp>
      <p:sp>
        <p:nvSpPr>
          <p:cNvPr id="3" name="CasellaDiTesto 2">
            <a:extLst>
              <a:ext uri="{FF2B5EF4-FFF2-40B4-BE49-F238E27FC236}">
                <a16:creationId xmlns:a16="http://schemas.microsoft.com/office/drawing/2014/main" id="{BF559E03-AD9A-B06B-D39A-4E952966740B}"/>
              </a:ext>
            </a:extLst>
          </p:cNvPr>
          <p:cNvSpPr txBox="1"/>
          <p:nvPr/>
        </p:nvSpPr>
        <p:spPr>
          <a:xfrm>
            <a:off x="228600" y="4782553"/>
            <a:ext cx="1859035" cy="369332"/>
          </a:xfrm>
          <a:prstGeom prst="rect">
            <a:avLst/>
          </a:prstGeom>
          <a:noFill/>
        </p:spPr>
        <p:txBody>
          <a:bodyPr wrap="none" rtlCol="0">
            <a:spAutoFit/>
          </a:bodyPr>
          <a:lstStyle/>
          <a:p>
            <a:r>
              <a:rPr lang="en-US" noProof="0" dirty="0"/>
              <a:t>Plan: Unsolvable</a:t>
            </a:r>
          </a:p>
        </p:txBody>
      </p:sp>
    </p:spTree>
    <p:extLst>
      <p:ext uri="{BB962C8B-B14F-4D97-AF65-F5344CB8AC3E}">
        <p14:creationId xmlns:p14="http://schemas.microsoft.com/office/powerpoint/2010/main" val="3503800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1217702-AADB-BC8C-4EC1-2542DD54975C}"/>
              </a:ext>
            </a:extLst>
          </p:cNvPr>
          <p:cNvSpPr>
            <a:spLocks noGrp="1"/>
          </p:cNvSpPr>
          <p:nvPr>
            <p:ph type="title"/>
          </p:nvPr>
        </p:nvSpPr>
        <p:spPr/>
        <p:txBody>
          <a:bodyPr/>
          <a:lstStyle/>
          <a:p>
            <a:r>
              <a:rPr lang="en-US" noProof="0" dirty="0"/>
              <a:t>Technical discussion</a:t>
            </a:r>
          </a:p>
        </p:txBody>
      </p:sp>
      <p:sp>
        <p:nvSpPr>
          <p:cNvPr id="3" name="Segnaposto contenuto 2">
            <a:extLst>
              <a:ext uri="{FF2B5EF4-FFF2-40B4-BE49-F238E27FC236}">
                <a16:creationId xmlns:a16="http://schemas.microsoft.com/office/drawing/2014/main" id="{50B55AEA-A5B0-5E8B-10BB-E71BFFCCC757}"/>
              </a:ext>
            </a:extLst>
          </p:cNvPr>
          <p:cNvSpPr>
            <a:spLocks noGrp="1"/>
          </p:cNvSpPr>
          <p:nvPr>
            <p:ph idx="1"/>
          </p:nvPr>
        </p:nvSpPr>
        <p:spPr>
          <a:xfrm>
            <a:off x="517252" y="1547066"/>
            <a:ext cx="4442309" cy="1995477"/>
          </a:xfrm>
        </p:spPr>
        <p:txBody>
          <a:bodyPr>
            <a:normAutofit/>
          </a:bodyPr>
          <a:lstStyle/>
          <a:p>
            <a:r>
              <a:rPr lang="en-US" sz="1800" noProof="0" dirty="0"/>
              <a:t>Limitation of the classical PDDL for diagnosis and partial observability:</a:t>
            </a:r>
          </a:p>
          <a:p>
            <a:pPr lvl="1">
              <a:buFont typeface="Courier New" panose="02070309020205020404" pitchFamily="49" charset="0"/>
              <a:buChar char="o"/>
            </a:pPr>
            <a:r>
              <a:rPr lang="en-US" sz="1800" noProof="0" dirty="0"/>
              <a:t>Fully observable world</a:t>
            </a:r>
          </a:p>
          <a:p>
            <a:pPr lvl="1">
              <a:buFont typeface="Courier New" panose="02070309020205020404" pitchFamily="49" charset="0"/>
              <a:buChar char="o"/>
            </a:pPr>
            <a:r>
              <a:rPr lang="en-US" sz="1800" noProof="0" dirty="0"/>
              <a:t>The world changes only after an action of the robot</a:t>
            </a:r>
          </a:p>
          <a:p>
            <a:pPr lvl="1">
              <a:buFont typeface="Courier New" panose="02070309020205020404" pitchFamily="49" charset="0"/>
              <a:buChar char="o"/>
            </a:pPr>
            <a:r>
              <a:rPr lang="en-US" sz="1800" noProof="0" dirty="0"/>
              <a:t>No external event and process</a:t>
            </a:r>
          </a:p>
          <a:p>
            <a:endParaRPr lang="en-US" sz="2400" noProof="0" dirty="0"/>
          </a:p>
        </p:txBody>
      </p:sp>
      <p:sp>
        <p:nvSpPr>
          <p:cNvPr id="4" name="Segnaposto contenuto 2">
            <a:extLst>
              <a:ext uri="{FF2B5EF4-FFF2-40B4-BE49-F238E27FC236}">
                <a16:creationId xmlns:a16="http://schemas.microsoft.com/office/drawing/2014/main" id="{4BC4FD84-FDA2-4CD3-717C-58D46E5241CD}"/>
              </a:ext>
            </a:extLst>
          </p:cNvPr>
          <p:cNvSpPr txBox="1">
            <a:spLocks/>
          </p:cNvSpPr>
          <p:nvPr/>
        </p:nvSpPr>
        <p:spPr>
          <a:xfrm>
            <a:off x="6670781" y="1536122"/>
            <a:ext cx="4442309" cy="1995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noProof="0" dirty="0"/>
              <a:t>Diagnostic action Vs  goal-achieving actions:</a:t>
            </a:r>
          </a:p>
          <a:p>
            <a:pPr lvl="1">
              <a:buFont typeface="Courier New" panose="02070309020205020404" pitchFamily="49" charset="0"/>
              <a:buChar char="o"/>
            </a:pPr>
            <a:r>
              <a:rPr lang="en-US" sz="1800" noProof="0" dirty="0"/>
              <a:t>Purpose</a:t>
            </a:r>
          </a:p>
          <a:p>
            <a:pPr lvl="1">
              <a:buFont typeface="Courier New" panose="02070309020205020404" pitchFamily="49" charset="0"/>
              <a:buChar char="o"/>
            </a:pPr>
            <a:r>
              <a:rPr lang="en-US" sz="1800" noProof="0" dirty="0"/>
              <a:t>Preconditions</a:t>
            </a:r>
          </a:p>
        </p:txBody>
      </p:sp>
      <p:sp>
        <p:nvSpPr>
          <p:cNvPr id="5" name="Segnaposto contenuto 2">
            <a:extLst>
              <a:ext uri="{FF2B5EF4-FFF2-40B4-BE49-F238E27FC236}">
                <a16:creationId xmlns:a16="http://schemas.microsoft.com/office/drawing/2014/main" id="{EE7A14CE-7315-6A50-F794-8B664715B859}"/>
              </a:ext>
            </a:extLst>
          </p:cNvPr>
          <p:cNvSpPr txBox="1">
            <a:spLocks/>
          </p:cNvSpPr>
          <p:nvPr/>
        </p:nvSpPr>
        <p:spPr>
          <a:xfrm>
            <a:off x="517251" y="3793704"/>
            <a:ext cx="4442309" cy="19954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noProof="0" dirty="0"/>
              <a:t>Fault Progression and Planning Urgency:</a:t>
            </a:r>
          </a:p>
          <a:p>
            <a:pPr lvl="1">
              <a:buFont typeface="Courier New" panose="02070309020205020404" pitchFamily="49" charset="0"/>
              <a:buChar char="o"/>
            </a:pPr>
            <a:r>
              <a:rPr lang="en-US" sz="1800" noProof="0" dirty="0"/>
              <a:t>Continuous processes can drive the system toward irreversible failure</a:t>
            </a:r>
          </a:p>
          <a:p>
            <a:pPr lvl="1">
              <a:buFont typeface="Courier New" panose="02070309020205020404" pitchFamily="49" charset="0"/>
              <a:buChar char="o"/>
            </a:pPr>
            <a:r>
              <a:rPr lang="en-US" sz="1800" noProof="0" dirty="0"/>
              <a:t>No external event and process</a:t>
            </a:r>
          </a:p>
          <a:p>
            <a:endParaRPr lang="en-US" sz="2400" noProof="0" dirty="0"/>
          </a:p>
        </p:txBody>
      </p:sp>
      <p:sp>
        <p:nvSpPr>
          <p:cNvPr id="6" name="Segnaposto contenuto 2">
            <a:extLst>
              <a:ext uri="{FF2B5EF4-FFF2-40B4-BE49-F238E27FC236}">
                <a16:creationId xmlns:a16="http://schemas.microsoft.com/office/drawing/2014/main" id="{9D84E007-CEE9-FC25-9C01-D0189BD6CF77}"/>
              </a:ext>
            </a:extLst>
          </p:cNvPr>
          <p:cNvSpPr txBox="1">
            <a:spLocks/>
          </p:cNvSpPr>
          <p:nvPr/>
        </p:nvSpPr>
        <p:spPr>
          <a:xfrm>
            <a:off x="6670781" y="3793704"/>
            <a:ext cx="4442309" cy="199547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noProof="0" dirty="0"/>
              <a:t>Toward a POMDP-Based Model:</a:t>
            </a:r>
          </a:p>
          <a:p>
            <a:pPr lvl="1">
              <a:buFont typeface="Courier New" panose="02070309020205020404" pitchFamily="49" charset="0"/>
              <a:buChar char="o"/>
            </a:pPr>
            <a:r>
              <a:rPr lang="en-US" sz="1800" noProof="0" dirty="0"/>
              <a:t>From possible faults to probability distribution (act before confirm).</a:t>
            </a:r>
          </a:p>
          <a:p>
            <a:pPr lvl="1">
              <a:buFont typeface="Courier New" panose="02070309020205020404" pitchFamily="49" charset="0"/>
              <a:buChar char="o"/>
            </a:pPr>
            <a:r>
              <a:rPr lang="en-US" sz="1800" noProof="0" dirty="0"/>
              <a:t>Tests become observation</a:t>
            </a:r>
          </a:p>
          <a:p>
            <a:pPr lvl="1">
              <a:buFont typeface="Courier New" panose="02070309020205020404" pitchFamily="49" charset="0"/>
              <a:buChar char="o"/>
            </a:pPr>
            <a:r>
              <a:rPr lang="en-US" sz="1800" noProof="0" dirty="0"/>
              <a:t>Process and repairing actions stochastic</a:t>
            </a:r>
          </a:p>
          <a:p>
            <a:pPr lvl="1">
              <a:buFont typeface="Courier New" panose="02070309020205020404" pitchFamily="49" charset="0"/>
              <a:buChar char="o"/>
            </a:pPr>
            <a:r>
              <a:rPr lang="en-US" sz="1800" noProof="0" dirty="0"/>
              <a:t>From (equalized) to cost</a:t>
            </a:r>
          </a:p>
          <a:p>
            <a:endParaRPr lang="en-US" sz="2400" noProof="0" dirty="0"/>
          </a:p>
        </p:txBody>
      </p:sp>
    </p:spTree>
    <p:extLst>
      <p:ext uri="{BB962C8B-B14F-4D97-AF65-F5344CB8AC3E}">
        <p14:creationId xmlns:p14="http://schemas.microsoft.com/office/powerpoint/2010/main" val="949101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E93F8F-6AE9-F307-4096-BC2F98D8D9C7}"/>
              </a:ext>
            </a:extLst>
          </p:cNvPr>
          <p:cNvSpPr>
            <a:spLocks noGrp="1"/>
          </p:cNvSpPr>
          <p:nvPr>
            <p:ph type="title"/>
          </p:nvPr>
        </p:nvSpPr>
        <p:spPr/>
        <p:txBody>
          <a:bodyPr/>
          <a:lstStyle/>
          <a:p>
            <a:r>
              <a:rPr lang="en-US" noProof="0" dirty="0"/>
              <a:t>Improvements</a:t>
            </a:r>
          </a:p>
        </p:txBody>
      </p:sp>
      <p:sp>
        <p:nvSpPr>
          <p:cNvPr id="3" name="Segnaposto contenuto 2">
            <a:extLst>
              <a:ext uri="{FF2B5EF4-FFF2-40B4-BE49-F238E27FC236}">
                <a16:creationId xmlns:a16="http://schemas.microsoft.com/office/drawing/2014/main" id="{76024716-5E5F-3822-158A-77FB99819118}"/>
              </a:ext>
            </a:extLst>
          </p:cNvPr>
          <p:cNvSpPr>
            <a:spLocks noGrp="1"/>
          </p:cNvSpPr>
          <p:nvPr>
            <p:ph idx="1"/>
          </p:nvPr>
        </p:nvSpPr>
        <p:spPr/>
        <p:txBody>
          <a:bodyPr/>
          <a:lstStyle/>
          <a:p>
            <a:r>
              <a:rPr lang="en-US" noProof="0" dirty="0"/>
              <a:t>Associate at each fault a </a:t>
            </a:r>
            <a:r>
              <a:rPr lang="en-US" b="1" noProof="0" dirty="0"/>
              <a:t>danger</a:t>
            </a:r>
            <a:r>
              <a:rPr lang="en-US" noProof="0" dirty="0"/>
              <a:t> or </a:t>
            </a:r>
            <a:r>
              <a:rPr lang="en-US" b="1" noProof="0" dirty="0"/>
              <a:t>caution</a:t>
            </a:r>
            <a:r>
              <a:rPr lang="en-US" noProof="0" dirty="0"/>
              <a:t> priority</a:t>
            </a:r>
          </a:p>
          <a:p>
            <a:r>
              <a:rPr lang="en-US" noProof="0" dirty="0"/>
              <a:t>The robot reads multiple time the pressure from the sensor and assign on its own the symptoms</a:t>
            </a:r>
          </a:p>
          <a:p>
            <a:r>
              <a:rPr lang="en-US" noProof="0" dirty="0"/>
              <a:t>Add a process to increase the severity of the jam for the panel (like over-heating)</a:t>
            </a:r>
          </a:p>
          <a:p>
            <a:r>
              <a:rPr lang="en-US" noProof="0" dirty="0"/>
              <a:t>Add a pump to restore the initial pressure inside the tanks</a:t>
            </a:r>
          </a:p>
          <a:p>
            <a:r>
              <a:rPr lang="en-US" noProof="0" dirty="0"/>
              <a:t>Add time of execution for each significant action to close the gap with the real world</a:t>
            </a:r>
          </a:p>
        </p:txBody>
      </p:sp>
    </p:spTree>
    <p:extLst>
      <p:ext uri="{BB962C8B-B14F-4D97-AF65-F5344CB8AC3E}">
        <p14:creationId xmlns:p14="http://schemas.microsoft.com/office/powerpoint/2010/main" val="3358844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egnaposto contenuto 3" descr="Pin on Mobile wallpaper">
            <a:extLst>
              <a:ext uri="{FF2B5EF4-FFF2-40B4-BE49-F238E27FC236}">
                <a16:creationId xmlns:a16="http://schemas.microsoft.com/office/drawing/2014/main" id="{94EE8B1D-DCE2-A00F-A234-82B48F1C03C2}"/>
              </a:ext>
            </a:extLst>
          </p:cNvPr>
          <p:cNvPicPr>
            <a:picLocks noGrp="1" noChangeAspect="1"/>
          </p:cNvPicPr>
          <p:nvPr>
            <p:ph idx="1"/>
          </p:nvPr>
        </p:nvPicPr>
        <p:blipFill>
          <a:blip r:embed="rId2"/>
          <a:srcRect b="19"/>
          <a:stretch>
            <a:fillRect/>
          </a:stretch>
        </p:blipFill>
        <p:spPr>
          <a:xfrm>
            <a:off x="20" y="1282"/>
            <a:ext cx="12191980" cy="6856718"/>
          </a:xfrm>
          <a:prstGeom prst="rect">
            <a:avLst/>
          </a:prstGeom>
        </p:spPr>
      </p:pic>
      <p:sp>
        <p:nvSpPr>
          <p:cNvPr id="2" name="Titolo 1">
            <a:extLst>
              <a:ext uri="{FF2B5EF4-FFF2-40B4-BE49-F238E27FC236}">
                <a16:creationId xmlns:a16="http://schemas.microsoft.com/office/drawing/2014/main" id="{A4CAFBBD-7F7B-1C47-B81D-2DD50B93C7D8}"/>
              </a:ext>
            </a:extLst>
          </p:cNvPr>
          <p:cNvSpPr>
            <a:spLocks noGrp="1"/>
          </p:cNvSpPr>
          <p:nvPr>
            <p:ph type="title"/>
          </p:nvPr>
        </p:nvSpPr>
        <p:spPr>
          <a:xfrm>
            <a:off x="838200" y="2260883"/>
            <a:ext cx="10515600" cy="1325563"/>
          </a:xfrm>
        </p:spPr>
        <p:txBody>
          <a:bodyPr/>
          <a:lstStyle/>
          <a:p>
            <a:pPr algn="ctr"/>
            <a:r>
              <a:rPr lang="en-US" noProof="0" dirty="0">
                <a:solidFill>
                  <a:srgbClr val="FFFF00"/>
                </a:solidFill>
              </a:rPr>
              <a:t>Thank you for the attention</a:t>
            </a:r>
          </a:p>
        </p:txBody>
      </p:sp>
    </p:spTree>
    <p:extLst>
      <p:ext uri="{BB962C8B-B14F-4D97-AF65-F5344CB8AC3E}">
        <p14:creationId xmlns:p14="http://schemas.microsoft.com/office/powerpoint/2010/main" val="336406077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bc70e4e-2303-4a8c-bace-a2df0369e2e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4D0CB9CF6443984592FC338112798953" ma:contentTypeVersion="9" ma:contentTypeDescription="Creare un nuovo documento." ma:contentTypeScope="" ma:versionID="9029aca49fdc165b2fd054bbe9803909">
  <xsd:schema xmlns:xsd="http://www.w3.org/2001/XMLSchema" xmlns:xs="http://www.w3.org/2001/XMLSchema" xmlns:p="http://schemas.microsoft.com/office/2006/metadata/properties" xmlns:ns3="3bc70e4e-2303-4a8c-bace-a2df0369e2ee" targetNamespace="http://schemas.microsoft.com/office/2006/metadata/properties" ma:root="true" ma:fieldsID="2af62f4ff5fea7fdbbcb9df25fda5d3f" ns3:_="">
    <xsd:import namespace="3bc70e4e-2303-4a8c-bace-a2df0369e2e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c70e4e-2303-4a8c-bace-a2df0369e2e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3CA9473-B420-458A-8608-8E21C0396326}">
  <ds:schemaRefs>
    <ds:schemaRef ds:uri="http://purl.org/dc/terms/"/>
    <ds:schemaRef ds:uri="http://purl.org/dc/elements/1.1/"/>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http://schemas.openxmlformats.org/package/2006/metadata/core-properties"/>
    <ds:schemaRef ds:uri="3bc70e4e-2303-4a8c-bace-a2df0369e2ee"/>
    <ds:schemaRef ds:uri="http://purl.org/dc/dcmitype/"/>
  </ds:schemaRefs>
</ds:datastoreItem>
</file>

<file path=customXml/itemProps2.xml><?xml version="1.0" encoding="utf-8"?>
<ds:datastoreItem xmlns:ds="http://schemas.openxmlformats.org/officeDocument/2006/customXml" ds:itemID="{CAF50ACE-BB4F-48CC-A1FB-21CDCF0083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c70e4e-2303-4a8c-bace-a2df0369e2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AFFFBD9-90B3-4A04-B305-E96B987219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1407</TotalTime>
  <Words>1307</Words>
  <Application>Microsoft Office PowerPoint</Application>
  <PresentationFormat>Widescreen</PresentationFormat>
  <Paragraphs>167</Paragraphs>
  <Slides>18</Slides>
  <Notes>8</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18</vt:i4>
      </vt:variant>
    </vt:vector>
  </HeadingPairs>
  <TitlesOfParts>
    <vt:vector size="26" baseType="lpstr">
      <vt:lpstr>Aptos</vt:lpstr>
      <vt:lpstr>Aptos Display</vt:lpstr>
      <vt:lpstr>Arial</vt:lpstr>
      <vt:lpstr>Cambria Math</vt:lpstr>
      <vt:lpstr>Courier New</vt:lpstr>
      <vt:lpstr>Times New Roman</vt:lpstr>
      <vt:lpstr>Wingdings</vt:lpstr>
      <vt:lpstr>Tema di Office</vt:lpstr>
      <vt:lpstr>Autonomous Orbital Maintenance Platform</vt:lpstr>
      <vt:lpstr>Scenario</vt:lpstr>
      <vt:lpstr>Architecture flow </vt:lpstr>
      <vt:lpstr>Modularity</vt:lpstr>
      <vt:lpstr>Modularity</vt:lpstr>
      <vt:lpstr>Inspiration</vt:lpstr>
      <vt:lpstr>Assumption</vt:lpstr>
      <vt:lpstr>Presentazione standard di PowerPoint</vt:lpstr>
      <vt:lpstr>Plan for problem 1*</vt:lpstr>
      <vt:lpstr>Presentazione standard di PowerPoint</vt:lpstr>
      <vt:lpstr>Plan for problem 2*</vt:lpstr>
      <vt:lpstr>PDDL+</vt:lpstr>
      <vt:lpstr>Presentazione standard di PowerPoint</vt:lpstr>
      <vt:lpstr>Plan for problem 1 PDDL+ *</vt:lpstr>
      <vt:lpstr>Plan 2 Q2</vt:lpstr>
      <vt:lpstr>Technical discussion</vt:lpstr>
      <vt:lpstr>Improvements</vt:lpstr>
      <vt:lpstr>Thank you for the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Michele Tozzola</dc:creator>
  <cp:lastModifiedBy>Michele Tozzola</cp:lastModifiedBy>
  <cp:revision>2</cp:revision>
  <dcterms:created xsi:type="dcterms:W3CDTF">2026-07-19T12:44:57Z</dcterms:created>
  <dcterms:modified xsi:type="dcterms:W3CDTF">2026-07-21T16:45:10Z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0x0101004D0CB9CF6443984592FC338112798953</vt:lpwstr>
  </property>
</Properties>
</file>